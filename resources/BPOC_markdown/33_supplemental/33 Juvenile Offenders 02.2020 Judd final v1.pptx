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notesMasterIdLst>
    <p:notesMasterId r:id="rId71"/>
  </p:notesMasterIdLst>
  <p:sldIdLst>
    <p:sldId id="591" r:id="rId2"/>
    <p:sldId id="592" r:id="rId3"/>
    <p:sldId id="593" r:id="rId4"/>
    <p:sldId id="594" r:id="rId5"/>
    <p:sldId id="595" r:id="rId6"/>
    <p:sldId id="596" r:id="rId7"/>
    <p:sldId id="597" r:id="rId8"/>
    <p:sldId id="598" r:id="rId9"/>
    <p:sldId id="599" r:id="rId10"/>
    <p:sldId id="600" r:id="rId11"/>
    <p:sldId id="601" r:id="rId12"/>
    <p:sldId id="602" r:id="rId13"/>
    <p:sldId id="603" r:id="rId14"/>
    <p:sldId id="604" r:id="rId15"/>
    <p:sldId id="605" r:id="rId16"/>
    <p:sldId id="606" r:id="rId17"/>
    <p:sldId id="607" r:id="rId18"/>
    <p:sldId id="608" r:id="rId19"/>
    <p:sldId id="609" r:id="rId20"/>
    <p:sldId id="610" r:id="rId21"/>
    <p:sldId id="611" r:id="rId22"/>
    <p:sldId id="612" r:id="rId23"/>
    <p:sldId id="613" r:id="rId24"/>
    <p:sldId id="614" r:id="rId25"/>
    <p:sldId id="615" r:id="rId26"/>
    <p:sldId id="616" r:id="rId27"/>
    <p:sldId id="617" r:id="rId28"/>
    <p:sldId id="618" r:id="rId29"/>
    <p:sldId id="619" r:id="rId30"/>
    <p:sldId id="620" r:id="rId31"/>
    <p:sldId id="621" r:id="rId32"/>
    <p:sldId id="622" r:id="rId33"/>
    <p:sldId id="623" r:id="rId34"/>
    <p:sldId id="624" r:id="rId35"/>
    <p:sldId id="625" r:id="rId36"/>
    <p:sldId id="626" r:id="rId37"/>
    <p:sldId id="627" r:id="rId38"/>
    <p:sldId id="628" r:id="rId39"/>
    <p:sldId id="629" r:id="rId40"/>
    <p:sldId id="630" r:id="rId41"/>
    <p:sldId id="631" r:id="rId42"/>
    <p:sldId id="632" r:id="rId43"/>
    <p:sldId id="633" r:id="rId44"/>
    <p:sldId id="634" r:id="rId45"/>
    <p:sldId id="635" r:id="rId46"/>
    <p:sldId id="636" r:id="rId47"/>
    <p:sldId id="637" r:id="rId48"/>
    <p:sldId id="638" r:id="rId49"/>
    <p:sldId id="639" r:id="rId50"/>
    <p:sldId id="640" r:id="rId51"/>
    <p:sldId id="641" r:id="rId52"/>
    <p:sldId id="642" r:id="rId53"/>
    <p:sldId id="643" r:id="rId54"/>
    <p:sldId id="644" r:id="rId55"/>
    <p:sldId id="645" r:id="rId56"/>
    <p:sldId id="646" r:id="rId57"/>
    <p:sldId id="647" r:id="rId58"/>
    <p:sldId id="648" r:id="rId59"/>
    <p:sldId id="649" r:id="rId60"/>
    <p:sldId id="650" r:id="rId61"/>
    <p:sldId id="651" r:id="rId62"/>
    <p:sldId id="652" r:id="rId63"/>
    <p:sldId id="653" r:id="rId64"/>
    <p:sldId id="654" r:id="rId65"/>
    <p:sldId id="655" r:id="rId66"/>
    <p:sldId id="656" r:id="rId67"/>
    <p:sldId id="657" r:id="rId68"/>
    <p:sldId id="658" r:id="rId69"/>
    <p:sldId id="659"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E06457-B5A7-6340-70E3-B2CEC5709564}" v="47" dt="2024-11-26T01:01:00.1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100" autoAdjust="0"/>
    <p:restoredTop sz="77846" autoAdjust="0"/>
  </p:normalViewPr>
  <p:slideViewPr>
    <p:cSldViewPr snapToGrid="0">
      <p:cViewPr varScale="1">
        <p:scale>
          <a:sx n="86" d="100"/>
          <a:sy n="86"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s, Nikkola" userId="S::nikkola.samuels@fortworthtexas.gov::1edb7ad5-acb7-4f31-b4b6-d11c048e5174" providerId="AD" clId="Web-{D5E06457-B5A7-6340-70E3-B2CEC5709564}"/>
    <pc:docChg chg="modSld">
      <pc:chgData name="Samuels, Nikkola" userId="S::nikkola.samuels@fortworthtexas.gov::1edb7ad5-acb7-4f31-b4b6-d11c048e5174" providerId="AD" clId="Web-{D5E06457-B5A7-6340-70E3-B2CEC5709564}" dt="2024-11-26T01:00:58.292" v="44" actId="20577"/>
      <pc:docMkLst>
        <pc:docMk/>
      </pc:docMkLst>
      <pc:sldChg chg="modSp">
        <pc:chgData name="Samuels, Nikkola" userId="S::nikkola.samuels@fortworthtexas.gov::1edb7ad5-acb7-4f31-b4b6-d11c048e5174" providerId="AD" clId="Web-{D5E06457-B5A7-6340-70E3-B2CEC5709564}" dt="2024-11-26T01:00:58.292" v="44" actId="20577"/>
        <pc:sldMkLst>
          <pc:docMk/>
          <pc:sldMk cId="888001952" sldId="256"/>
        </pc:sldMkLst>
        <pc:spChg chg="mod">
          <ac:chgData name="Samuels, Nikkola" userId="S::nikkola.samuels@fortworthtexas.gov::1edb7ad5-acb7-4f31-b4b6-d11c048e5174" providerId="AD" clId="Web-{D5E06457-B5A7-6340-70E3-B2CEC5709564}" dt="2024-11-26T01:00:58.292" v="44" actId="20577"/>
          <ac:spMkLst>
            <pc:docMk/>
            <pc:sldMk cId="888001952" sldId="256"/>
            <ac:spMk id="3" creationId="{00000000-0000-0000-0000-000000000000}"/>
          </ac:spMkLst>
        </pc:spChg>
      </pc:sldChg>
      <pc:sldChg chg="modSp">
        <pc:chgData name="Samuels, Nikkola" userId="S::nikkola.samuels@fortworthtexas.gov::1edb7ad5-acb7-4f31-b4b6-d11c048e5174" providerId="AD" clId="Web-{D5E06457-B5A7-6340-70E3-B2CEC5709564}" dt="2024-11-26T00:59:32.868" v="18" actId="20577"/>
        <pc:sldMkLst>
          <pc:docMk/>
          <pc:sldMk cId="348711611" sldId="261"/>
        </pc:sldMkLst>
        <pc:spChg chg="mod">
          <ac:chgData name="Samuels, Nikkola" userId="S::nikkola.samuels@fortworthtexas.gov::1edb7ad5-acb7-4f31-b4b6-d11c048e5174" providerId="AD" clId="Web-{D5E06457-B5A7-6340-70E3-B2CEC5709564}" dt="2024-11-26T00:59:32.868" v="18" actId="20577"/>
          <ac:spMkLst>
            <pc:docMk/>
            <pc:sldMk cId="348711611" sldId="261"/>
            <ac:spMk id="3" creationId="{00000000-0000-0000-0000-000000000000}"/>
          </ac:spMkLst>
        </pc:spChg>
      </pc:sldChg>
      <pc:sldChg chg="modSp">
        <pc:chgData name="Samuels, Nikkola" userId="S::nikkola.samuels@fortworthtexas.gov::1edb7ad5-acb7-4f31-b4b6-d11c048e5174" providerId="AD" clId="Web-{D5E06457-B5A7-6340-70E3-B2CEC5709564}" dt="2024-11-26T01:00:24.806" v="37" actId="20577"/>
        <pc:sldMkLst>
          <pc:docMk/>
          <pc:sldMk cId="4082527806" sldId="262"/>
        </pc:sldMkLst>
        <pc:spChg chg="mod">
          <ac:chgData name="Samuels, Nikkola" userId="S::nikkola.samuels@fortworthtexas.gov::1edb7ad5-acb7-4f31-b4b6-d11c048e5174" providerId="AD" clId="Web-{D5E06457-B5A7-6340-70E3-B2CEC5709564}" dt="2024-11-26T01:00:24.806" v="37" actId="20577"/>
          <ac:spMkLst>
            <pc:docMk/>
            <pc:sldMk cId="4082527806" sldId="262"/>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DBB596-6DFD-4F5A-B327-189E86092781}"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A74BBD-A2DF-47FC-A044-B01B2A958B7E}" type="slidenum">
              <a:rPr lang="en-US" smtClean="0"/>
              <a:t>‹#›</a:t>
            </a:fld>
            <a:endParaRPr lang="en-US"/>
          </a:p>
        </p:txBody>
      </p:sp>
    </p:spTree>
    <p:extLst>
      <p:ext uri="{BB962C8B-B14F-4D97-AF65-F5344CB8AC3E}">
        <p14:creationId xmlns:p14="http://schemas.microsoft.com/office/powerpoint/2010/main" val="3957298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www.statutes.legis.state.tx.us/GetStatute.aspx?Code=PE&amp;Value=21.02" TargetMode="External"/><Relationship Id="rId2" Type="http://schemas.openxmlformats.org/officeDocument/2006/relationships/slide" Target="../slides/slide43.xml"/><Relationship Id="rId1" Type="http://schemas.openxmlformats.org/officeDocument/2006/relationships/notesMaster" Target="../notesMasters/notesMaster1.xml"/><Relationship Id="rId6" Type="http://schemas.openxmlformats.org/officeDocument/2006/relationships/hyperlink" Target="http://www.statutes.legis.state.tx.us/GetStatute.aspx?Code=PE&amp;Value=22.021" TargetMode="External"/><Relationship Id="rId5" Type="http://schemas.openxmlformats.org/officeDocument/2006/relationships/hyperlink" Target="http://www.statutes.legis.state.tx.us/GetStatute.aspx?Code=PE&amp;Value=22.011" TargetMode="External"/><Relationship Id="rId4" Type="http://schemas.openxmlformats.org/officeDocument/2006/relationships/hyperlink" Target="http://www.statutes.legis.state.tx.us/GetStatute.aspx?Code=PE&amp;Value=21.11"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8" Type="http://schemas.openxmlformats.org/officeDocument/2006/relationships/hyperlink" Target="http://www.statutes.legis.state.tx.us/GetStatute.aspx?Code=HR&amp;Value=42" TargetMode="External"/><Relationship Id="rId3" Type="http://schemas.openxmlformats.org/officeDocument/2006/relationships/hyperlink" Target="http://www.statutes.legis.state.tx.us/GetStatute.aspx?Code=FA&amp;Value=261.203" TargetMode="External"/><Relationship Id="rId7" Type="http://schemas.openxmlformats.org/officeDocument/2006/relationships/hyperlink" Target="http://www.statutes.legis.state.tx.us/GetStatute.aspx?Code=FA&amp;Value=161" TargetMode="External"/><Relationship Id="rId2" Type="http://schemas.openxmlformats.org/officeDocument/2006/relationships/slide" Target="../slides/slide46.xml"/><Relationship Id="rId1" Type="http://schemas.openxmlformats.org/officeDocument/2006/relationships/notesMaster" Target="../notesMasters/notesMaster1.xml"/><Relationship Id="rId6" Type="http://schemas.openxmlformats.org/officeDocument/2006/relationships/hyperlink" Target="http://www.statutes.legis.state.tx.us/GetStatute.aspx?Code=ED&amp;Value=5.001" TargetMode="External"/><Relationship Id="rId5" Type="http://schemas.openxmlformats.org/officeDocument/2006/relationships/hyperlink" Target="http://www.statutes.legis.state.tx.us/GetStatute.aspx?Code=FA&amp;Value=261.101" TargetMode="External"/><Relationship Id="rId4" Type="http://schemas.openxmlformats.org/officeDocument/2006/relationships/hyperlink" Target="http://www.statutes.legis.state.tx.us/GetStatute.aspx?Code=GV&amp;Value=552"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
            </a:r>
          </a:p>
        </p:txBody>
      </p:sp>
      <p:sp>
        <p:nvSpPr>
          <p:cNvPr id="4" name="Slide Number Placeholder 3"/>
          <p:cNvSpPr>
            <a:spLocks noGrp="1"/>
          </p:cNvSpPr>
          <p:nvPr>
            <p:ph type="sldNum" sz="quarter" idx="5"/>
          </p:nvPr>
        </p:nvSpPr>
        <p:spPr/>
        <p:txBody>
          <a:bodyPr/>
          <a:lstStyle/>
          <a:p>
            <a:fld id="{D2A74BBD-A2DF-47FC-A044-B01B2A958B7E}" type="slidenum">
              <a:rPr lang="en-US" smtClean="0"/>
              <a:t>1</a:t>
            </a:fld>
            <a:endParaRPr lang="en-US"/>
          </a:p>
        </p:txBody>
      </p:sp>
    </p:spTree>
    <p:extLst>
      <p:ext uri="{BB962C8B-B14F-4D97-AF65-F5344CB8AC3E}">
        <p14:creationId xmlns:p14="http://schemas.microsoft.com/office/powerpoint/2010/main" val="2345555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
            </a:r>
          </a:p>
        </p:txBody>
      </p:sp>
      <p:sp>
        <p:nvSpPr>
          <p:cNvPr id="4" name="Slide Number Placeholder 3"/>
          <p:cNvSpPr>
            <a:spLocks noGrp="1"/>
          </p:cNvSpPr>
          <p:nvPr>
            <p:ph type="sldNum" sz="quarter" idx="5"/>
          </p:nvPr>
        </p:nvSpPr>
        <p:spPr/>
        <p:txBody>
          <a:bodyPr/>
          <a:lstStyle/>
          <a:p>
            <a:fld id="{D2A74BBD-A2DF-47FC-A044-B01B2A958B7E}" type="slidenum">
              <a:rPr lang="en-US" smtClean="0"/>
              <a:t>2</a:t>
            </a:fld>
            <a:endParaRPr lang="en-US"/>
          </a:p>
        </p:txBody>
      </p:sp>
    </p:spTree>
    <p:extLst>
      <p:ext uri="{BB962C8B-B14F-4D97-AF65-F5344CB8AC3E}">
        <p14:creationId xmlns:p14="http://schemas.microsoft.com/office/powerpoint/2010/main" val="894694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
            </a:r>
          </a:p>
        </p:txBody>
      </p:sp>
      <p:sp>
        <p:nvSpPr>
          <p:cNvPr id="4" name="Slide Number Placeholder 3"/>
          <p:cNvSpPr>
            <a:spLocks noGrp="1"/>
          </p:cNvSpPr>
          <p:nvPr>
            <p:ph type="sldNum" sz="quarter" idx="5"/>
          </p:nvPr>
        </p:nvSpPr>
        <p:spPr/>
        <p:txBody>
          <a:bodyPr/>
          <a:lstStyle/>
          <a:p>
            <a:fld id="{D2A74BBD-A2DF-47FC-A044-B01B2A958B7E}" type="slidenum">
              <a:rPr lang="en-US" smtClean="0"/>
              <a:t>3</a:t>
            </a:fld>
            <a:endParaRPr lang="en-US"/>
          </a:p>
        </p:txBody>
      </p:sp>
    </p:spTree>
    <p:extLst>
      <p:ext uri="{BB962C8B-B14F-4D97-AF65-F5344CB8AC3E}">
        <p14:creationId xmlns:p14="http://schemas.microsoft.com/office/powerpoint/2010/main" val="1023292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
            </a:r>
          </a:p>
        </p:txBody>
      </p:sp>
      <p:sp>
        <p:nvSpPr>
          <p:cNvPr id="4" name="Slide Number Placeholder 3"/>
          <p:cNvSpPr>
            <a:spLocks noGrp="1"/>
          </p:cNvSpPr>
          <p:nvPr>
            <p:ph type="sldNum" sz="quarter" idx="5"/>
          </p:nvPr>
        </p:nvSpPr>
        <p:spPr/>
        <p:txBody>
          <a:bodyPr/>
          <a:lstStyle/>
          <a:p>
            <a:fld id="{D2A74BBD-A2DF-47FC-A044-B01B2A958B7E}" type="slidenum">
              <a:rPr lang="en-US" smtClean="0"/>
              <a:t>4</a:t>
            </a:fld>
            <a:endParaRPr lang="en-US"/>
          </a:p>
        </p:txBody>
      </p:sp>
    </p:spTree>
    <p:extLst>
      <p:ext uri="{BB962C8B-B14F-4D97-AF65-F5344CB8AC3E}">
        <p14:creationId xmlns:p14="http://schemas.microsoft.com/office/powerpoint/2010/main" val="3192751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
            </a:r>
          </a:p>
        </p:txBody>
      </p:sp>
      <p:sp>
        <p:nvSpPr>
          <p:cNvPr id="4" name="Slide Number Placeholder 3"/>
          <p:cNvSpPr>
            <a:spLocks noGrp="1"/>
          </p:cNvSpPr>
          <p:nvPr>
            <p:ph type="sldNum" sz="quarter" idx="5"/>
          </p:nvPr>
        </p:nvSpPr>
        <p:spPr/>
        <p:txBody>
          <a:bodyPr/>
          <a:lstStyle/>
          <a:p>
            <a:fld id="{D2A74BBD-A2DF-47FC-A044-B01B2A958B7E}" type="slidenum">
              <a:rPr lang="en-US" smtClean="0"/>
              <a:t>5</a:t>
            </a:fld>
            <a:endParaRPr lang="en-US"/>
          </a:p>
        </p:txBody>
      </p:sp>
    </p:spTree>
    <p:extLst>
      <p:ext uri="{BB962C8B-B14F-4D97-AF65-F5344CB8AC3E}">
        <p14:creationId xmlns:p14="http://schemas.microsoft.com/office/powerpoint/2010/main" val="3283017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6</a:t>
            </a:fld>
            <a:endParaRPr lang="en-US"/>
          </a:p>
        </p:txBody>
      </p:sp>
    </p:spTree>
    <p:extLst>
      <p:ext uri="{BB962C8B-B14F-4D97-AF65-F5344CB8AC3E}">
        <p14:creationId xmlns:p14="http://schemas.microsoft.com/office/powerpoint/2010/main" val="2433710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7</a:t>
            </a:fld>
            <a:endParaRPr lang="en-US"/>
          </a:p>
        </p:txBody>
      </p:sp>
    </p:spTree>
    <p:extLst>
      <p:ext uri="{BB962C8B-B14F-4D97-AF65-F5344CB8AC3E}">
        <p14:creationId xmlns:p14="http://schemas.microsoft.com/office/powerpoint/2010/main" val="4129354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10</a:t>
            </a:fld>
            <a:endParaRPr lang="en-US"/>
          </a:p>
        </p:txBody>
      </p:sp>
    </p:spTree>
    <p:extLst>
      <p:ext uri="{BB962C8B-B14F-4D97-AF65-F5344CB8AC3E}">
        <p14:creationId xmlns:p14="http://schemas.microsoft.com/office/powerpoint/2010/main" val="3575304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11</a:t>
            </a:fld>
            <a:endParaRPr lang="en-US"/>
          </a:p>
        </p:txBody>
      </p:sp>
    </p:spTree>
    <p:extLst>
      <p:ext uri="{BB962C8B-B14F-4D97-AF65-F5344CB8AC3E}">
        <p14:creationId xmlns:p14="http://schemas.microsoft.com/office/powerpoint/2010/main" val="824237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12</a:t>
            </a:fld>
            <a:endParaRPr lang="en-US"/>
          </a:p>
        </p:txBody>
      </p:sp>
    </p:spTree>
    <p:extLst>
      <p:ext uri="{BB962C8B-B14F-4D97-AF65-F5344CB8AC3E}">
        <p14:creationId xmlns:p14="http://schemas.microsoft.com/office/powerpoint/2010/main" val="691485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13</a:t>
            </a:fld>
            <a:endParaRPr lang="en-US"/>
          </a:p>
        </p:txBody>
      </p:sp>
    </p:spTree>
    <p:extLst>
      <p:ext uri="{BB962C8B-B14F-4D97-AF65-F5344CB8AC3E}">
        <p14:creationId xmlns:p14="http://schemas.microsoft.com/office/powerpoint/2010/main" val="300266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14</a:t>
            </a:fld>
            <a:endParaRPr lang="en-US"/>
          </a:p>
        </p:txBody>
      </p:sp>
    </p:spTree>
    <p:extLst>
      <p:ext uri="{BB962C8B-B14F-4D97-AF65-F5344CB8AC3E}">
        <p14:creationId xmlns:p14="http://schemas.microsoft.com/office/powerpoint/2010/main" val="34672581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15</a:t>
            </a:fld>
            <a:endParaRPr lang="en-US"/>
          </a:p>
        </p:txBody>
      </p:sp>
    </p:spTree>
    <p:extLst>
      <p:ext uri="{BB962C8B-B14F-4D97-AF65-F5344CB8AC3E}">
        <p14:creationId xmlns:p14="http://schemas.microsoft.com/office/powerpoint/2010/main" val="3178897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16</a:t>
            </a:fld>
            <a:endParaRPr lang="en-US"/>
          </a:p>
        </p:txBody>
      </p:sp>
    </p:spTree>
    <p:extLst>
      <p:ext uri="{BB962C8B-B14F-4D97-AF65-F5344CB8AC3E}">
        <p14:creationId xmlns:p14="http://schemas.microsoft.com/office/powerpoint/2010/main" val="4158688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17</a:t>
            </a:fld>
            <a:endParaRPr lang="en-US"/>
          </a:p>
        </p:txBody>
      </p:sp>
    </p:spTree>
    <p:extLst>
      <p:ext uri="{BB962C8B-B14F-4D97-AF65-F5344CB8AC3E}">
        <p14:creationId xmlns:p14="http://schemas.microsoft.com/office/powerpoint/2010/main" val="1032873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18</a:t>
            </a:fld>
            <a:endParaRPr lang="en-US"/>
          </a:p>
        </p:txBody>
      </p:sp>
    </p:spTree>
    <p:extLst>
      <p:ext uri="{BB962C8B-B14F-4D97-AF65-F5344CB8AC3E}">
        <p14:creationId xmlns:p14="http://schemas.microsoft.com/office/powerpoint/2010/main" val="22093348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19</a:t>
            </a:fld>
            <a:endParaRPr lang="en-US"/>
          </a:p>
        </p:txBody>
      </p:sp>
    </p:spTree>
    <p:extLst>
      <p:ext uri="{BB962C8B-B14F-4D97-AF65-F5344CB8AC3E}">
        <p14:creationId xmlns:p14="http://schemas.microsoft.com/office/powerpoint/2010/main" val="38090902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20</a:t>
            </a:fld>
            <a:endParaRPr lang="en-US"/>
          </a:p>
        </p:txBody>
      </p:sp>
    </p:spTree>
    <p:extLst>
      <p:ext uri="{BB962C8B-B14F-4D97-AF65-F5344CB8AC3E}">
        <p14:creationId xmlns:p14="http://schemas.microsoft.com/office/powerpoint/2010/main" val="613340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21</a:t>
            </a:fld>
            <a:endParaRPr lang="en-US"/>
          </a:p>
        </p:txBody>
      </p:sp>
    </p:spTree>
    <p:extLst>
      <p:ext uri="{BB962C8B-B14F-4D97-AF65-F5344CB8AC3E}">
        <p14:creationId xmlns:p14="http://schemas.microsoft.com/office/powerpoint/2010/main" val="3373734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22</a:t>
            </a:fld>
            <a:endParaRPr lang="en-US"/>
          </a:p>
        </p:txBody>
      </p:sp>
    </p:spTree>
    <p:extLst>
      <p:ext uri="{BB962C8B-B14F-4D97-AF65-F5344CB8AC3E}">
        <p14:creationId xmlns:p14="http://schemas.microsoft.com/office/powerpoint/2010/main" val="1697683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23</a:t>
            </a:fld>
            <a:endParaRPr lang="en-US"/>
          </a:p>
        </p:txBody>
      </p:sp>
    </p:spTree>
    <p:extLst>
      <p:ext uri="{BB962C8B-B14F-4D97-AF65-F5344CB8AC3E}">
        <p14:creationId xmlns:p14="http://schemas.microsoft.com/office/powerpoint/2010/main" val="4113169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24</a:t>
            </a:fld>
            <a:endParaRPr lang="en-US"/>
          </a:p>
        </p:txBody>
      </p:sp>
    </p:spTree>
    <p:extLst>
      <p:ext uri="{BB962C8B-B14F-4D97-AF65-F5344CB8AC3E}">
        <p14:creationId xmlns:p14="http://schemas.microsoft.com/office/powerpoint/2010/main" val="3010465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25</a:t>
            </a:fld>
            <a:endParaRPr lang="en-US"/>
          </a:p>
        </p:txBody>
      </p:sp>
    </p:spTree>
    <p:extLst>
      <p:ext uri="{BB962C8B-B14F-4D97-AF65-F5344CB8AC3E}">
        <p14:creationId xmlns:p14="http://schemas.microsoft.com/office/powerpoint/2010/main" val="126242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26</a:t>
            </a:fld>
            <a:endParaRPr lang="en-US"/>
          </a:p>
        </p:txBody>
      </p:sp>
    </p:spTree>
    <p:extLst>
      <p:ext uri="{BB962C8B-B14F-4D97-AF65-F5344CB8AC3E}">
        <p14:creationId xmlns:p14="http://schemas.microsoft.com/office/powerpoint/2010/main" val="38052260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27</a:t>
            </a:fld>
            <a:endParaRPr lang="en-US"/>
          </a:p>
        </p:txBody>
      </p:sp>
    </p:spTree>
    <p:extLst>
      <p:ext uri="{BB962C8B-B14F-4D97-AF65-F5344CB8AC3E}">
        <p14:creationId xmlns:p14="http://schemas.microsoft.com/office/powerpoint/2010/main" val="13968304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28</a:t>
            </a:fld>
            <a:endParaRPr lang="en-US"/>
          </a:p>
        </p:txBody>
      </p:sp>
    </p:spTree>
    <p:extLst>
      <p:ext uri="{BB962C8B-B14F-4D97-AF65-F5344CB8AC3E}">
        <p14:creationId xmlns:p14="http://schemas.microsoft.com/office/powerpoint/2010/main" val="36473368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29</a:t>
            </a:fld>
            <a:endParaRPr lang="en-US"/>
          </a:p>
        </p:txBody>
      </p:sp>
    </p:spTree>
    <p:extLst>
      <p:ext uri="{BB962C8B-B14F-4D97-AF65-F5344CB8AC3E}">
        <p14:creationId xmlns:p14="http://schemas.microsoft.com/office/powerpoint/2010/main" val="41810990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74BBD-A2DF-47FC-A044-B01B2A958B7E}" type="slidenum">
              <a:rPr lang="en-US" smtClean="0"/>
              <a:t>30</a:t>
            </a:fld>
            <a:endParaRPr lang="en-US"/>
          </a:p>
        </p:txBody>
      </p:sp>
    </p:spTree>
    <p:extLst>
      <p:ext uri="{BB962C8B-B14F-4D97-AF65-F5344CB8AC3E}">
        <p14:creationId xmlns:p14="http://schemas.microsoft.com/office/powerpoint/2010/main" val="23296029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C misdemeanor, </a:t>
            </a:r>
            <a:r>
              <a:rPr lang="en-US" b="1" dirty="0"/>
              <a:t>other than a traffic offense</a:t>
            </a:r>
            <a:r>
              <a:rPr lang="en-US" dirty="0"/>
              <a:t>; or</a:t>
            </a:r>
          </a:p>
          <a:p>
            <a:r>
              <a:rPr lang="en-US" dirty="0"/>
              <a:t>	(3)  delinquent conduct </a:t>
            </a:r>
            <a:r>
              <a:rPr lang="en-US" b="1" dirty="0"/>
              <a:t>other than conduct </a:t>
            </a:r>
            <a:r>
              <a:rPr lang="en-US" dirty="0"/>
              <a:t>that constitutes:</a:t>
            </a:r>
          </a:p>
          <a:p>
            <a:r>
              <a:rPr lang="en-US" dirty="0"/>
              <a:t>		(A) a felony of the first, second, or third degree, an aggravated 							controlled substance felony, or a capital felony; or</a:t>
            </a:r>
          </a:p>
          <a:p>
            <a:r>
              <a:rPr lang="en-US" dirty="0"/>
              <a:t>		(B) a state jail felony or misdemeanor involving violence to a person or the use or possession of a firearm, location-restricted knife, or club, as those terms are defined by Section 46.01, Penal Code, or a prohibited weapon, as described by Section 46.05, Penal Code.</a:t>
            </a:r>
          </a:p>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37</a:t>
            </a:fld>
            <a:endParaRPr lang="en-US"/>
          </a:p>
        </p:txBody>
      </p:sp>
    </p:spTree>
    <p:extLst>
      <p:ext uri="{BB962C8B-B14F-4D97-AF65-F5344CB8AC3E}">
        <p14:creationId xmlns:p14="http://schemas.microsoft.com/office/powerpoint/2010/main" val="1934794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C misdemeanor, </a:t>
            </a:r>
            <a:r>
              <a:rPr lang="en-US" b="1" dirty="0"/>
              <a:t>other than a traffic offense</a:t>
            </a:r>
            <a:r>
              <a:rPr lang="en-US" dirty="0"/>
              <a:t>; or</a:t>
            </a:r>
          </a:p>
          <a:p>
            <a:r>
              <a:rPr lang="en-US" dirty="0"/>
              <a:t>	(3)  delinquent conduct </a:t>
            </a:r>
            <a:r>
              <a:rPr lang="en-US" b="1" dirty="0"/>
              <a:t>other than conduct </a:t>
            </a:r>
            <a:r>
              <a:rPr lang="en-US" dirty="0"/>
              <a:t>that constitutes:</a:t>
            </a:r>
          </a:p>
          <a:p>
            <a:r>
              <a:rPr lang="en-US" dirty="0"/>
              <a:t>		(A) a felony of the first, second, or third degree, an aggravated 							controlled substance felony, or a capital felony; or</a:t>
            </a:r>
          </a:p>
          <a:p>
            <a:r>
              <a:rPr lang="en-US" dirty="0"/>
              <a:t>		(B) a state jail felony or misdemeanor involving violence to a person or the use or possession of a firearm, location-restricted knife, or club, as those terms are defined by Section 46.01, Penal Code, or a prohibited weapon, as described by Section 46.05, Penal Code.</a:t>
            </a:r>
          </a:p>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38</a:t>
            </a:fld>
            <a:endParaRPr lang="en-US"/>
          </a:p>
        </p:txBody>
      </p:sp>
    </p:spTree>
    <p:extLst>
      <p:ext uri="{BB962C8B-B14F-4D97-AF65-F5344CB8AC3E}">
        <p14:creationId xmlns:p14="http://schemas.microsoft.com/office/powerpoint/2010/main" val="20692230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C misdemeanor, </a:t>
            </a:r>
            <a:r>
              <a:rPr lang="en-US" b="1" dirty="0"/>
              <a:t>other than a traffic offense</a:t>
            </a:r>
            <a:r>
              <a:rPr lang="en-US" dirty="0"/>
              <a:t>; or</a:t>
            </a:r>
          </a:p>
          <a:p>
            <a:r>
              <a:rPr lang="en-US" dirty="0"/>
              <a:t>	(3)  delinquent conduct </a:t>
            </a:r>
            <a:r>
              <a:rPr lang="en-US" b="1" dirty="0"/>
              <a:t>other than conduct </a:t>
            </a:r>
            <a:r>
              <a:rPr lang="en-US" dirty="0"/>
              <a:t>that constitutes:</a:t>
            </a:r>
          </a:p>
          <a:p>
            <a:r>
              <a:rPr lang="en-US" dirty="0"/>
              <a:t>		(A) a felony of the first, second, or third degree, an aggravated 							controlled substance felony, or a capital felony; or</a:t>
            </a:r>
          </a:p>
          <a:p>
            <a:r>
              <a:rPr lang="en-US" dirty="0"/>
              <a:t>		(B) a state jail felony or misdemeanor involving violence to a person or the use or possession of a firearm, location-restricted knife, or club, as those terms are defined by Section 46.01, Penal Code, or a prohibited weapon, as described by Section 46.05, Penal Code.</a:t>
            </a:r>
          </a:p>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39</a:t>
            </a:fld>
            <a:endParaRPr lang="en-US"/>
          </a:p>
        </p:txBody>
      </p:sp>
    </p:spTree>
    <p:extLst>
      <p:ext uri="{BB962C8B-B14F-4D97-AF65-F5344CB8AC3E}">
        <p14:creationId xmlns:p14="http://schemas.microsoft.com/office/powerpoint/2010/main" val="2073454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C misdemeanor, </a:t>
            </a:r>
            <a:r>
              <a:rPr lang="en-US" b="1" dirty="0"/>
              <a:t>other than a traffic offense</a:t>
            </a:r>
            <a:r>
              <a:rPr lang="en-US" dirty="0"/>
              <a:t>; or</a:t>
            </a:r>
          </a:p>
          <a:p>
            <a:r>
              <a:rPr lang="en-US" dirty="0"/>
              <a:t>	(3)  delinquent conduct </a:t>
            </a:r>
            <a:r>
              <a:rPr lang="en-US" b="1" dirty="0"/>
              <a:t>other than conduct </a:t>
            </a:r>
            <a:r>
              <a:rPr lang="en-US" dirty="0"/>
              <a:t>that constitutes:</a:t>
            </a:r>
          </a:p>
          <a:p>
            <a:r>
              <a:rPr lang="en-US" dirty="0"/>
              <a:t>		(A) a felony of the first, second, or third degree, an aggravated 							controlled substance felony, or a capital felony; or</a:t>
            </a:r>
          </a:p>
          <a:p>
            <a:r>
              <a:rPr lang="en-US" dirty="0"/>
              <a:t>		(B) a state jail felony or misdemeanor involving violence to a person or the use or possession of a firearm, location-restricted knife, or club, as those terms are defined by Section 46.01, Penal Code, or a prohibited weapon, as described by Section 46.05, Penal Code.</a:t>
            </a:r>
          </a:p>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40</a:t>
            </a:fld>
            <a:endParaRPr lang="en-US"/>
          </a:p>
        </p:txBody>
      </p:sp>
    </p:spTree>
    <p:extLst>
      <p:ext uri="{BB962C8B-B14F-4D97-AF65-F5344CB8AC3E}">
        <p14:creationId xmlns:p14="http://schemas.microsoft.com/office/powerpoint/2010/main" val="31860765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41</a:t>
            </a:fld>
            <a:endParaRPr lang="en-US"/>
          </a:p>
        </p:txBody>
      </p:sp>
    </p:spTree>
    <p:extLst>
      <p:ext uri="{BB962C8B-B14F-4D97-AF65-F5344CB8AC3E}">
        <p14:creationId xmlns:p14="http://schemas.microsoft.com/office/powerpoint/2010/main" val="26793977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42</a:t>
            </a:fld>
            <a:endParaRPr lang="en-US"/>
          </a:p>
        </p:txBody>
      </p:sp>
    </p:spTree>
    <p:extLst>
      <p:ext uri="{BB962C8B-B14F-4D97-AF65-F5344CB8AC3E}">
        <p14:creationId xmlns:p14="http://schemas.microsoft.com/office/powerpoint/2010/main" val="17802512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(1) "</a:t>
            </a:r>
            <a:r>
              <a:rPr lang="en-US" b="1" dirty="0">
                <a:effectLst/>
              </a:rPr>
              <a:t>Abuse</a:t>
            </a:r>
            <a:r>
              <a:rPr lang="en-US" dirty="0">
                <a:effectLst/>
              </a:rPr>
              <a:t>" includes the following acts or omissions by a person:</a:t>
            </a:r>
          </a:p>
          <a:p>
            <a:r>
              <a:rPr lang="en-US" dirty="0">
                <a:effectLst/>
              </a:rPr>
              <a:t>(A) mental or emotional injury to a child </a:t>
            </a:r>
            <a:r>
              <a:rPr lang="en-US" b="1" dirty="0">
                <a:effectLst/>
              </a:rPr>
              <a:t>that results in an observable and material impairment </a:t>
            </a:r>
            <a:r>
              <a:rPr lang="en-US" dirty="0">
                <a:effectLst/>
              </a:rPr>
              <a:t>in the child's growth, development, or psychological functioning;</a:t>
            </a:r>
          </a:p>
          <a:p>
            <a:r>
              <a:rPr lang="en-US" dirty="0">
                <a:effectLst/>
              </a:rPr>
              <a:t>(B) causing or permitting the child to be in a situation in which the child sustains a mental or emotional injury that results in an observable and material impairment in the child's growth, development, or psychological functioning;</a:t>
            </a:r>
          </a:p>
          <a:p>
            <a:r>
              <a:rPr lang="en-US" dirty="0">
                <a:effectLst/>
              </a:rPr>
              <a:t>(C) physical injury that results in substantial harm to the child, or the genuine threat of substantial harm from physical injury to the child, including an injury that is at variance with the history or explanation given and excluding an accident or reasonable discipline by a parent, guardian, or managing or possessory conservator that does not expose the child to a substantial risk of harm;</a:t>
            </a:r>
          </a:p>
          <a:p>
            <a:r>
              <a:rPr lang="en-US" dirty="0">
                <a:effectLst/>
              </a:rPr>
              <a:t>(D) failure to make a reasonable effort to prevent an action by another person that results in physical injury that results in substantial harm to the child;</a:t>
            </a:r>
          </a:p>
          <a:p>
            <a:r>
              <a:rPr lang="en-US" b="1" dirty="0">
                <a:effectLst/>
              </a:rPr>
              <a:t>(E) sexual conduct harmful to a child's mental, emotional, or physical welfare, </a:t>
            </a:r>
            <a:r>
              <a:rPr lang="en-US" dirty="0">
                <a:effectLst/>
              </a:rPr>
              <a:t>including conduct that constitutes the offense of continuous sexual abuse of young child or children under Section </a:t>
            </a:r>
            <a:r>
              <a:rPr lang="en-US" dirty="0">
                <a:effectLst/>
                <a:hlinkClick r:id="rId3"/>
              </a:rPr>
              <a:t>21.02</a:t>
            </a:r>
            <a:r>
              <a:rPr lang="en-US" dirty="0">
                <a:effectLst/>
              </a:rPr>
              <a:t>, Penal Code, indecency with a child under Section </a:t>
            </a:r>
            <a:r>
              <a:rPr lang="en-US" dirty="0">
                <a:effectLst/>
                <a:hlinkClick r:id="rId4"/>
              </a:rPr>
              <a:t>21.11</a:t>
            </a:r>
            <a:r>
              <a:rPr lang="en-US" dirty="0">
                <a:effectLst/>
              </a:rPr>
              <a:t>, Penal Code, sexual assault under Section </a:t>
            </a:r>
            <a:r>
              <a:rPr lang="en-US" dirty="0">
                <a:effectLst/>
                <a:hlinkClick r:id="rId5"/>
              </a:rPr>
              <a:t>22.011</a:t>
            </a:r>
            <a:r>
              <a:rPr lang="en-US" dirty="0">
                <a:effectLst/>
              </a:rPr>
              <a:t>, Penal Code, or aggravated sexual assault under Section </a:t>
            </a:r>
            <a:r>
              <a:rPr lang="en-US" dirty="0">
                <a:effectLst/>
                <a:hlinkClick r:id="rId6"/>
              </a:rPr>
              <a:t>22.021</a:t>
            </a:r>
            <a:r>
              <a:rPr lang="en-US" dirty="0">
                <a:effectLst/>
              </a:rPr>
              <a:t>, Penal Code;</a:t>
            </a:r>
          </a:p>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43</a:t>
            </a:fld>
            <a:endParaRPr lang="en-US"/>
          </a:p>
        </p:txBody>
      </p:sp>
    </p:spTree>
    <p:extLst>
      <p:ext uri="{BB962C8B-B14F-4D97-AF65-F5344CB8AC3E}">
        <p14:creationId xmlns:p14="http://schemas.microsoft.com/office/powerpoint/2010/main" val="5988020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44</a:t>
            </a:fld>
            <a:endParaRPr lang="en-US"/>
          </a:p>
        </p:txBody>
      </p:sp>
    </p:spTree>
    <p:extLst>
      <p:ext uri="{BB962C8B-B14F-4D97-AF65-F5344CB8AC3E}">
        <p14:creationId xmlns:p14="http://schemas.microsoft.com/office/powerpoint/2010/main" val="22678541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45</a:t>
            </a:fld>
            <a:endParaRPr lang="en-US"/>
          </a:p>
        </p:txBody>
      </p:sp>
    </p:spTree>
    <p:extLst>
      <p:ext uri="{BB962C8B-B14F-4D97-AF65-F5344CB8AC3E}">
        <p14:creationId xmlns:p14="http://schemas.microsoft.com/office/powerpoint/2010/main" val="12708218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Sec. 261.201. CONFIDENTIALITY AND DISCLOSURE OF INFORMATION. (a) Except as provided by Section </a:t>
            </a:r>
            <a:r>
              <a:rPr lang="en-US" sz="1200" u="none" strike="noStrike" kern="1200" dirty="0">
                <a:solidFill>
                  <a:schemeClr val="tx1"/>
                </a:solidFill>
                <a:effectLst/>
                <a:latin typeface="+mn-lt"/>
                <a:ea typeface="+mn-ea"/>
                <a:cs typeface="+mn-cs"/>
                <a:hlinkClick r:id="rId3"/>
              </a:rPr>
              <a:t>261.203</a:t>
            </a:r>
            <a:r>
              <a:rPr lang="en-US" sz="1200" kern="1200" dirty="0">
                <a:solidFill>
                  <a:schemeClr val="tx1"/>
                </a:solidFill>
                <a:effectLst/>
                <a:latin typeface="+mn-lt"/>
                <a:ea typeface="+mn-ea"/>
                <a:cs typeface="+mn-cs"/>
              </a:rPr>
              <a:t>, the following information is confidential, is not subject to public release under Chapter </a:t>
            </a:r>
            <a:r>
              <a:rPr lang="en-US" sz="1200" u="none" strike="noStrike" kern="1200" dirty="0">
                <a:solidFill>
                  <a:schemeClr val="tx1"/>
                </a:solidFill>
                <a:effectLst/>
                <a:latin typeface="+mn-lt"/>
                <a:ea typeface="+mn-ea"/>
                <a:cs typeface="+mn-cs"/>
                <a:hlinkClick r:id="rId4"/>
              </a:rPr>
              <a:t>552</a:t>
            </a:r>
            <a:r>
              <a:rPr lang="en-US" sz="1200" kern="1200" dirty="0">
                <a:solidFill>
                  <a:schemeClr val="tx1"/>
                </a:solidFill>
                <a:effectLst/>
                <a:latin typeface="+mn-lt"/>
                <a:ea typeface="+mn-ea"/>
                <a:cs typeface="+mn-cs"/>
              </a:rPr>
              <a:t>, Government Code, and may be disclosed only for purposes consistent with this code and applicable federal or state law or under rules adopted by an investigating agency:</a:t>
            </a:r>
          </a:p>
          <a:p>
            <a:r>
              <a:rPr lang="en-US" sz="1200" kern="1200" dirty="0">
                <a:solidFill>
                  <a:schemeClr val="tx1"/>
                </a:solidFill>
                <a:effectLst/>
                <a:latin typeface="+mn-lt"/>
                <a:ea typeface="+mn-ea"/>
                <a:cs typeface="+mn-cs"/>
              </a:rPr>
              <a:t>(1) a report of alleged or suspected abuse or neglect made under this chapter and the identity of the person making the report; and</a:t>
            </a:r>
          </a:p>
          <a:p>
            <a:r>
              <a:rPr lang="en-US" sz="1200" kern="1200" dirty="0">
                <a:solidFill>
                  <a:schemeClr val="tx1"/>
                </a:solidFill>
                <a:effectLst/>
                <a:latin typeface="+mn-lt"/>
                <a:ea typeface="+mn-ea"/>
                <a:cs typeface="+mn-cs"/>
              </a:rPr>
              <a:t>(2) except as otherwise provided in this section, the files, reports, records, communications, audiotapes, videotapes, and working papers used or developed in an investigation under this chapter or in providing services as a result of an investigation.</a:t>
            </a:r>
          </a:p>
          <a:p>
            <a:r>
              <a:rPr lang="en-US" sz="1200" kern="1200" dirty="0">
                <a:solidFill>
                  <a:schemeClr val="tx1"/>
                </a:solidFill>
                <a:effectLst/>
                <a:latin typeface="+mn-lt"/>
                <a:ea typeface="+mn-ea"/>
                <a:cs typeface="+mn-cs"/>
              </a:rPr>
              <a:t>(b) A court may order the disclosure of information that is confidential under this section if:</a:t>
            </a:r>
          </a:p>
          <a:p>
            <a:r>
              <a:rPr lang="en-US" sz="1200" kern="1200" dirty="0">
                <a:solidFill>
                  <a:schemeClr val="tx1"/>
                </a:solidFill>
                <a:effectLst/>
                <a:latin typeface="+mn-lt"/>
                <a:ea typeface="+mn-ea"/>
                <a:cs typeface="+mn-cs"/>
              </a:rPr>
              <a:t>(1) a motion has been filed with the court requesting the release of the information;</a:t>
            </a:r>
          </a:p>
          <a:p>
            <a:r>
              <a:rPr lang="en-US" sz="1200" kern="1200" dirty="0">
                <a:solidFill>
                  <a:schemeClr val="tx1"/>
                </a:solidFill>
                <a:effectLst/>
                <a:latin typeface="+mn-lt"/>
                <a:ea typeface="+mn-ea"/>
                <a:cs typeface="+mn-cs"/>
              </a:rPr>
              <a:t>(2) a notice of hearing has been served on the investigating agency and all other interested parties; and</a:t>
            </a:r>
          </a:p>
          <a:p>
            <a:r>
              <a:rPr lang="en-US" sz="1200" kern="1200" dirty="0">
                <a:solidFill>
                  <a:schemeClr val="tx1"/>
                </a:solidFill>
                <a:effectLst/>
                <a:latin typeface="+mn-lt"/>
                <a:ea typeface="+mn-ea"/>
                <a:cs typeface="+mn-cs"/>
              </a:rPr>
              <a:t>(3) after hearing and an in camera review of the requested information, the court determines that the disclosure of the requested information is:</a:t>
            </a:r>
          </a:p>
          <a:p>
            <a:r>
              <a:rPr lang="en-US" sz="1200" kern="1200" dirty="0">
                <a:solidFill>
                  <a:schemeClr val="tx1"/>
                </a:solidFill>
                <a:effectLst/>
                <a:latin typeface="+mn-lt"/>
                <a:ea typeface="+mn-ea"/>
                <a:cs typeface="+mn-cs"/>
              </a:rPr>
              <a:t>(A) essential to the administration of justice; and</a:t>
            </a:r>
          </a:p>
          <a:p>
            <a:r>
              <a:rPr lang="en-US" sz="1200" kern="1200" dirty="0">
                <a:solidFill>
                  <a:schemeClr val="tx1"/>
                </a:solidFill>
                <a:effectLst/>
                <a:latin typeface="+mn-lt"/>
                <a:ea typeface="+mn-ea"/>
                <a:cs typeface="+mn-cs"/>
              </a:rPr>
              <a:t>(B) not likely to endanger the life or safety of:</a:t>
            </a:r>
          </a:p>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 child who is the subject of the report of alleged or suspected abuse or neglect;</a:t>
            </a:r>
          </a:p>
          <a:p>
            <a:r>
              <a:rPr lang="en-US" sz="1200" kern="1200" dirty="0">
                <a:solidFill>
                  <a:schemeClr val="tx1"/>
                </a:solidFill>
                <a:effectLst/>
                <a:latin typeface="+mn-lt"/>
                <a:ea typeface="+mn-ea"/>
                <a:cs typeface="+mn-cs"/>
              </a:rPr>
              <a:t>(ii) a person who makes a report of alleged or suspected abuse or neglect; or</a:t>
            </a:r>
          </a:p>
          <a:p>
            <a:r>
              <a:rPr lang="en-US" sz="1200" kern="1200" dirty="0">
                <a:solidFill>
                  <a:schemeClr val="tx1"/>
                </a:solidFill>
                <a:effectLst/>
                <a:latin typeface="+mn-lt"/>
                <a:ea typeface="+mn-ea"/>
                <a:cs typeface="+mn-cs"/>
              </a:rPr>
              <a:t>(iii) any other person who participates in an investigation of reported abuse or neglect or who provides care for the child.</a:t>
            </a:r>
          </a:p>
          <a:p>
            <a:r>
              <a:rPr lang="en-US" sz="1200" kern="1200" dirty="0">
                <a:solidFill>
                  <a:schemeClr val="tx1"/>
                </a:solidFill>
                <a:effectLst/>
                <a:latin typeface="+mn-lt"/>
                <a:ea typeface="+mn-ea"/>
                <a:cs typeface="+mn-cs"/>
              </a:rPr>
              <a:t>(b-1) On a motion of one of the parties in a contested case before an administrative law judge relating to the license or certification of a professional, as defined by Section </a:t>
            </a:r>
            <a:r>
              <a:rPr lang="en-US" sz="1200" u="none" strike="noStrike" kern="1200" dirty="0">
                <a:solidFill>
                  <a:schemeClr val="tx1"/>
                </a:solidFill>
                <a:effectLst/>
                <a:latin typeface="+mn-lt"/>
                <a:ea typeface="+mn-ea"/>
                <a:cs typeface="+mn-cs"/>
                <a:hlinkClick r:id="rId5"/>
              </a:rPr>
              <a:t>261.101</a:t>
            </a:r>
            <a:r>
              <a:rPr lang="en-US" sz="1200" kern="1200" dirty="0">
                <a:solidFill>
                  <a:schemeClr val="tx1"/>
                </a:solidFill>
                <a:effectLst/>
                <a:latin typeface="+mn-lt"/>
                <a:ea typeface="+mn-ea"/>
                <a:cs typeface="+mn-cs"/>
              </a:rPr>
              <a:t>(b), or an educator, as defined by Section </a:t>
            </a:r>
            <a:r>
              <a:rPr lang="en-US" sz="1200" u="none" strike="noStrike" kern="1200" dirty="0">
                <a:solidFill>
                  <a:schemeClr val="tx1"/>
                </a:solidFill>
                <a:effectLst/>
                <a:latin typeface="+mn-lt"/>
                <a:ea typeface="+mn-ea"/>
                <a:cs typeface="+mn-cs"/>
                <a:hlinkClick r:id="rId6"/>
              </a:rPr>
              <a:t>5.001</a:t>
            </a:r>
            <a:r>
              <a:rPr lang="en-US" sz="1200" kern="1200" dirty="0">
                <a:solidFill>
                  <a:schemeClr val="tx1"/>
                </a:solidFill>
                <a:effectLst/>
                <a:latin typeface="+mn-lt"/>
                <a:ea typeface="+mn-ea"/>
                <a:cs typeface="+mn-cs"/>
              </a:rPr>
              <a:t>, Education Code, the administrative law judge may order the disclosure of information that is confidential under this section that relates to the matter before the administrative law judge after a hearing for which notice is provided as required by Subsection (b)(2) and making the review and determination required by Subsection (b)(3). Before the department may release information under this subsection, the department must edit the information to protect the confidentiality of the identity of any person who makes a report of abuse or neglect.</a:t>
            </a:r>
          </a:p>
          <a:p>
            <a:r>
              <a:rPr lang="en-US" sz="1200" kern="1200" dirty="0">
                <a:solidFill>
                  <a:schemeClr val="tx1"/>
                </a:solidFill>
                <a:effectLst/>
                <a:latin typeface="+mn-lt"/>
                <a:ea typeface="+mn-ea"/>
                <a:cs typeface="+mn-cs"/>
              </a:rPr>
              <a:t>(c) In addition to Subsection (b), a court, on its own motion, may order disclosure of information that is confidential under this section if:</a:t>
            </a:r>
          </a:p>
          <a:p>
            <a:r>
              <a:rPr lang="en-US" sz="1200" kern="1200" dirty="0">
                <a:solidFill>
                  <a:schemeClr val="tx1"/>
                </a:solidFill>
                <a:effectLst/>
                <a:latin typeface="+mn-lt"/>
                <a:ea typeface="+mn-ea"/>
                <a:cs typeface="+mn-cs"/>
              </a:rPr>
              <a:t>(1) the order is rendered at a hearing for which all parties have been given notice;</a:t>
            </a:r>
          </a:p>
          <a:p>
            <a:r>
              <a:rPr lang="en-US" sz="1200" kern="1200" dirty="0">
                <a:solidFill>
                  <a:schemeClr val="tx1"/>
                </a:solidFill>
                <a:effectLst/>
                <a:latin typeface="+mn-lt"/>
                <a:ea typeface="+mn-ea"/>
                <a:cs typeface="+mn-cs"/>
              </a:rPr>
              <a:t>(2) the court finds that disclosure of the information is:</a:t>
            </a:r>
          </a:p>
          <a:p>
            <a:r>
              <a:rPr lang="en-US" sz="1200" kern="1200" dirty="0">
                <a:solidFill>
                  <a:schemeClr val="tx1"/>
                </a:solidFill>
                <a:effectLst/>
                <a:latin typeface="+mn-lt"/>
                <a:ea typeface="+mn-ea"/>
                <a:cs typeface="+mn-cs"/>
              </a:rPr>
              <a:t>(A) essential to the administration of justice; and</a:t>
            </a:r>
          </a:p>
          <a:p>
            <a:r>
              <a:rPr lang="en-US" sz="1200" kern="1200" dirty="0">
                <a:solidFill>
                  <a:schemeClr val="tx1"/>
                </a:solidFill>
                <a:effectLst/>
                <a:latin typeface="+mn-lt"/>
                <a:ea typeface="+mn-ea"/>
                <a:cs typeface="+mn-cs"/>
              </a:rPr>
              <a:t>(B) not likely to endanger the life or safety of:</a:t>
            </a:r>
          </a:p>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 child who is the subject of the report of alleged or suspected abuse or neglect;</a:t>
            </a:r>
          </a:p>
          <a:p>
            <a:r>
              <a:rPr lang="en-US" sz="1200" kern="1200" dirty="0">
                <a:solidFill>
                  <a:schemeClr val="tx1"/>
                </a:solidFill>
                <a:effectLst/>
                <a:latin typeface="+mn-lt"/>
                <a:ea typeface="+mn-ea"/>
                <a:cs typeface="+mn-cs"/>
              </a:rPr>
              <a:t>(ii) a person who makes a report of alleged or suspected abuse or neglect; or</a:t>
            </a:r>
          </a:p>
          <a:p>
            <a:r>
              <a:rPr lang="en-US" sz="1200" kern="1200" dirty="0">
                <a:solidFill>
                  <a:schemeClr val="tx1"/>
                </a:solidFill>
                <a:effectLst/>
                <a:latin typeface="+mn-lt"/>
                <a:ea typeface="+mn-ea"/>
                <a:cs typeface="+mn-cs"/>
              </a:rPr>
              <a:t>(iii) any other person who participates in an investigation of reported abuse or neglect or who provides care for the child; and</a:t>
            </a:r>
          </a:p>
          <a:p>
            <a:r>
              <a:rPr lang="en-US" sz="1200" kern="1200" dirty="0">
                <a:solidFill>
                  <a:schemeClr val="tx1"/>
                </a:solidFill>
                <a:effectLst/>
                <a:latin typeface="+mn-lt"/>
                <a:ea typeface="+mn-ea"/>
                <a:cs typeface="+mn-cs"/>
              </a:rPr>
              <a:t>(3) the order is reduced to writing or made on the record in open court.</a:t>
            </a:r>
          </a:p>
          <a:p>
            <a:r>
              <a:rPr lang="en-US" sz="1200" kern="1200" dirty="0">
                <a:solidFill>
                  <a:schemeClr val="tx1"/>
                </a:solidFill>
                <a:effectLst/>
                <a:latin typeface="+mn-lt"/>
                <a:ea typeface="+mn-ea"/>
                <a:cs typeface="+mn-cs"/>
              </a:rPr>
              <a:t>(d) The adoptive parents of a child who was the subject of an investigation and an adult who was the subject of an investigation as a child are entitled to examine and make copies of any report, record, working paper, or other information in the possession, custody, or control of the state that pertains to the history of the child. The department may edit the documents to protect the identity of the biological parents and any other person whose identity is confidential, unless this information is already known to the adoptive parents or is readily available through other sources, including the court records of a suit to terminate the parent-child relationship under Chapter </a:t>
            </a:r>
            <a:r>
              <a:rPr lang="en-US" sz="1200" u="none" strike="noStrike" kern="1200" dirty="0">
                <a:solidFill>
                  <a:schemeClr val="tx1"/>
                </a:solidFill>
                <a:effectLst/>
                <a:latin typeface="+mn-lt"/>
                <a:ea typeface="+mn-ea"/>
                <a:cs typeface="+mn-cs"/>
                <a:hlinkClick r:id="rId7"/>
              </a:rPr>
              <a:t>161</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(e) Before placing a child who was the subject of an investigation, the department shall notify the prospective adoptive parents of their right to examine any report, record, working paper, or other information in the possession, custody, or control of the department that pertains to the history of the child.</a:t>
            </a:r>
          </a:p>
          <a:p>
            <a:r>
              <a:rPr lang="en-US" sz="1200" kern="1200" dirty="0">
                <a:solidFill>
                  <a:schemeClr val="tx1"/>
                </a:solidFill>
                <a:effectLst/>
                <a:latin typeface="+mn-lt"/>
                <a:ea typeface="+mn-ea"/>
                <a:cs typeface="+mn-cs"/>
              </a:rPr>
              <a:t>(f) The department shall provide prospective adoptive parents an opportunity to examine information under this section as early as practicable before placing a child.</a:t>
            </a:r>
          </a:p>
          <a:p>
            <a:r>
              <a:rPr lang="en-US" sz="1200" kern="1200" dirty="0">
                <a:solidFill>
                  <a:schemeClr val="tx1"/>
                </a:solidFill>
                <a:effectLst/>
                <a:latin typeface="+mn-lt"/>
                <a:ea typeface="+mn-ea"/>
                <a:cs typeface="+mn-cs"/>
              </a:rPr>
              <a:t>(f-1) The department shall provide to a relative or other individual with whom a child is placed any information the department considers necessary to ensure that the relative or other individual is prepared to meet the needs of the child. The information required by this subsection may include information related to any abuse or neglect suffered by the child.</a:t>
            </a:r>
          </a:p>
          <a:p>
            <a:r>
              <a:rPr lang="en-US" sz="1200" kern="1200" dirty="0">
                <a:solidFill>
                  <a:schemeClr val="tx1"/>
                </a:solidFill>
                <a:effectLst/>
                <a:latin typeface="+mn-lt"/>
                <a:ea typeface="+mn-ea"/>
                <a:cs typeface="+mn-cs"/>
              </a:rPr>
              <a:t>(g) Notwithstanding Subsection (b), the department, on request and subject to department rule, shall provide to the parent, managing conservator, or other legal representative of a child who is the subject of reported abuse or neglect information concerning the reported abuse or neglect that would otherwise be confidential under this section if the department has edited the information to protect the confidentiality of the identity of the person who made the report and any other person whose life or safety may be endangered by the disclosure.</a:t>
            </a:r>
          </a:p>
          <a:p>
            <a:r>
              <a:rPr lang="en-US" sz="1200" kern="1200" dirty="0">
                <a:solidFill>
                  <a:schemeClr val="tx1"/>
                </a:solidFill>
                <a:effectLst/>
                <a:latin typeface="+mn-lt"/>
                <a:ea typeface="+mn-ea"/>
                <a:cs typeface="+mn-cs"/>
              </a:rPr>
              <a:t>(h) This section does not apply to an investigation of child abuse or neglect in a home or facility regulated under Chapter </a:t>
            </a:r>
            <a:r>
              <a:rPr lang="en-US" sz="1200" u="none" strike="noStrike" kern="1200" dirty="0">
                <a:solidFill>
                  <a:schemeClr val="tx1"/>
                </a:solidFill>
                <a:effectLst/>
                <a:latin typeface="+mn-lt"/>
                <a:ea typeface="+mn-ea"/>
                <a:cs typeface="+mn-cs"/>
                <a:hlinkClick r:id="rId8"/>
              </a:rPr>
              <a:t>42</a:t>
            </a:r>
            <a:r>
              <a:rPr lang="en-US" sz="1200" kern="1200" dirty="0">
                <a:solidFill>
                  <a:schemeClr val="tx1"/>
                </a:solidFill>
                <a:effectLst/>
                <a:latin typeface="+mn-lt"/>
                <a:ea typeface="+mn-ea"/>
                <a:cs typeface="+mn-cs"/>
              </a:rPr>
              <a:t>, Human Resources Code.</a:t>
            </a:r>
          </a:p>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Notwithstanding Subsection (a), the Texas Juvenile Justice Department shall release a report of alleged or suspected abuse or neglect made under this chapter if:</a:t>
            </a:r>
          </a:p>
          <a:p>
            <a:r>
              <a:rPr lang="en-US" sz="1200" kern="1200" dirty="0">
                <a:solidFill>
                  <a:schemeClr val="tx1"/>
                </a:solidFill>
                <a:effectLst/>
                <a:latin typeface="+mn-lt"/>
                <a:ea typeface="+mn-ea"/>
                <a:cs typeface="+mn-cs"/>
              </a:rPr>
              <a:t>(1) the report relates to a report of abuse or neglect involving a child committed to the Texas Juvenile Justice Department during the period that the child is committed to that department; and</a:t>
            </a:r>
          </a:p>
          <a:p>
            <a:r>
              <a:rPr lang="en-US" sz="1200" kern="1200" dirty="0">
                <a:solidFill>
                  <a:schemeClr val="tx1"/>
                </a:solidFill>
                <a:effectLst/>
                <a:latin typeface="+mn-lt"/>
                <a:ea typeface="+mn-ea"/>
                <a:cs typeface="+mn-cs"/>
              </a:rPr>
              <a:t>(2) the Texas Juvenile Justice Department is not prohibited by Chapter </a:t>
            </a:r>
            <a:r>
              <a:rPr lang="en-US" sz="1200" u="none" strike="noStrike" kern="1200" dirty="0">
                <a:solidFill>
                  <a:schemeClr val="tx1"/>
                </a:solidFill>
                <a:effectLst/>
                <a:latin typeface="+mn-lt"/>
                <a:ea typeface="+mn-ea"/>
                <a:cs typeface="+mn-cs"/>
                <a:hlinkClick r:id="rId4"/>
              </a:rPr>
              <a:t>552</a:t>
            </a:r>
            <a:r>
              <a:rPr lang="en-US" sz="1200" kern="1200" dirty="0">
                <a:solidFill>
                  <a:schemeClr val="tx1"/>
                </a:solidFill>
                <a:effectLst/>
                <a:latin typeface="+mn-lt"/>
                <a:ea typeface="+mn-ea"/>
                <a:cs typeface="+mn-cs"/>
              </a:rPr>
              <a:t>, Government Code, or other law from disclosing the report.</a:t>
            </a:r>
          </a:p>
          <a:p>
            <a:r>
              <a:rPr lang="en-US" sz="1200" kern="1200" dirty="0">
                <a:solidFill>
                  <a:schemeClr val="tx1"/>
                </a:solidFill>
                <a:effectLst/>
                <a:latin typeface="+mn-lt"/>
                <a:ea typeface="+mn-ea"/>
                <a:cs typeface="+mn-cs"/>
              </a:rPr>
              <a:t>(j) The Texas Juvenile Justice Department shall edit any report disclosed under Subsection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to protect the identity of:</a:t>
            </a:r>
          </a:p>
          <a:p>
            <a:r>
              <a:rPr lang="en-US" sz="1200" kern="1200" dirty="0">
                <a:solidFill>
                  <a:schemeClr val="tx1"/>
                </a:solidFill>
                <a:effectLst/>
                <a:latin typeface="+mn-lt"/>
                <a:ea typeface="+mn-ea"/>
                <a:cs typeface="+mn-cs"/>
              </a:rPr>
              <a:t>(1) a child who is the subject of the report of alleged or suspected abuse or neglect;</a:t>
            </a:r>
          </a:p>
          <a:p>
            <a:r>
              <a:rPr lang="en-US" sz="1200" kern="1200" dirty="0">
                <a:solidFill>
                  <a:schemeClr val="tx1"/>
                </a:solidFill>
                <a:effectLst/>
                <a:latin typeface="+mn-lt"/>
                <a:ea typeface="+mn-ea"/>
                <a:cs typeface="+mn-cs"/>
              </a:rPr>
              <a:t>(2) the person who made the report; and</a:t>
            </a:r>
          </a:p>
          <a:p>
            <a:r>
              <a:rPr lang="en-US" sz="1200" kern="1200" dirty="0">
                <a:solidFill>
                  <a:schemeClr val="tx1"/>
                </a:solidFill>
                <a:effectLst/>
                <a:latin typeface="+mn-lt"/>
                <a:ea typeface="+mn-ea"/>
                <a:cs typeface="+mn-cs"/>
              </a:rPr>
              <a:t>(3) any other person whose life or safety may be endangered by the disclosure.</a:t>
            </a:r>
          </a:p>
          <a:p>
            <a:r>
              <a:rPr lang="en-US" sz="1200" kern="1200" dirty="0">
                <a:solidFill>
                  <a:schemeClr val="tx1"/>
                </a:solidFill>
                <a:effectLst/>
                <a:latin typeface="+mn-lt"/>
                <a:ea typeface="+mn-ea"/>
                <a:cs typeface="+mn-cs"/>
              </a:rPr>
              <a:t>(k) Notwithstanding Subsection (a), an investigating agency, other than the department or the Texas Juvenile Justice Department, on request, shall provide to the parent, managing conservator, or other legal representative of a child who is the subject of reported abuse or neglect, or to the child if the child is at least 18 years of age, information concerning the reported abuse or neglect that would otherwise be confidential under this section. The investigating agency shall withhold information under this subsection if the parent, managing conservator, or other legal representative of the child requesting the information is alleged to have committed the abuse or neglect.</a:t>
            </a:r>
          </a:p>
          <a:p>
            <a:r>
              <a:rPr lang="en-US" sz="1200" kern="1200" dirty="0">
                <a:solidFill>
                  <a:schemeClr val="tx1"/>
                </a:solidFill>
                <a:effectLst/>
                <a:latin typeface="+mn-lt"/>
                <a:ea typeface="+mn-ea"/>
                <a:cs typeface="+mn-cs"/>
              </a:rPr>
              <a:t>(l) Before a child or a parent, managing conservator, or other legal representative of a child may inspect or copy a record or file concerning the child under Subsection (k), the custodian of the record or file must redact:</a:t>
            </a:r>
          </a:p>
          <a:p>
            <a:r>
              <a:rPr lang="en-US" sz="1200" kern="1200" dirty="0">
                <a:solidFill>
                  <a:schemeClr val="tx1"/>
                </a:solidFill>
                <a:effectLst/>
                <a:latin typeface="+mn-lt"/>
                <a:ea typeface="+mn-ea"/>
                <a:cs typeface="+mn-cs"/>
              </a:rPr>
              <a:t>(1) any personally identifiable information about a victim or witness under 18 years of age unless that victim or witness is:</a:t>
            </a:r>
          </a:p>
          <a:p>
            <a:r>
              <a:rPr lang="en-US" sz="1200" kern="1200" dirty="0">
                <a:solidFill>
                  <a:schemeClr val="tx1"/>
                </a:solidFill>
                <a:effectLst/>
                <a:latin typeface="+mn-lt"/>
                <a:ea typeface="+mn-ea"/>
                <a:cs typeface="+mn-cs"/>
              </a:rPr>
              <a:t>(A) the child who is the subject of the report; or</a:t>
            </a:r>
          </a:p>
          <a:p>
            <a:r>
              <a:rPr lang="en-US" sz="1200" kern="1200" dirty="0">
                <a:solidFill>
                  <a:schemeClr val="tx1"/>
                </a:solidFill>
                <a:effectLst/>
                <a:latin typeface="+mn-lt"/>
                <a:ea typeface="+mn-ea"/>
                <a:cs typeface="+mn-cs"/>
              </a:rPr>
              <a:t>(B) another child of the parent, managing conservator, or other legal representative requesting the information;</a:t>
            </a:r>
          </a:p>
          <a:p>
            <a:r>
              <a:rPr lang="en-US" sz="1200" kern="1200" dirty="0">
                <a:solidFill>
                  <a:schemeClr val="tx1"/>
                </a:solidFill>
                <a:effectLst/>
                <a:latin typeface="+mn-lt"/>
                <a:ea typeface="+mn-ea"/>
                <a:cs typeface="+mn-cs"/>
              </a:rPr>
              <a:t>(2) any information that is excepted from required disclosure under Chapter </a:t>
            </a:r>
            <a:r>
              <a:rPr lang="en-US" sz="1200" u="none" strike="noStrike" kern="1200" dirty="0">
                <a:solidFill>
                  <a:schemeClr val="tx1"/>
                </a:solidFill>
                <a:effectLst/>
                <a:latin typeface="+mn-lt"/>
                <a:ea typeface="+mn-ea"/>
                <a:cs typeface="+mn-cs"/>
                <a:hlinkClick r:id="rId4"/>
              </a:rPr>
              <a:t>552</a:t>
            </a:r>
            <a:r>
              <a:rPr lang="en-US" sz="1200" kern="1200" dirty="0">
                <a:solidFill>
                  <a:schemeClr val="tx1"/>
                </a:solidFill>
                <a:effectLst/>
                <a:latin typeface="+mn-lt"/>
                <a:ea typeface="+mn-ea"/>
                <a:cs typeface="+mn-cs"/>
              </a:rPr>
              <a:t>, Government Code, or other law; and</a:t>
            </a:r>
          </a:p>
          <a:p>
            <a:r>
              <a:rPr lang="en-US" sz="1200" kern="1200" dirty="0">
                <a:solidFill>
                  <a:schemeClr val="tx1"/>
                </a:solidFill>
                <a:effectLst/>
                <a:latin typeface="+mn-lt"/>
                <a:ea typeface="+mn-ea"/>
                <a:cs typeface="+mn-cs"/>
              </a:rPr>
              <a:t>(3) the identity of the person who made the report.</a:t>
            </a:r>
          </a:p>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46</a:t>
            </a:fld>
            <a:endParaRPr lang="en-US"/>
          </a:p>
        </p:txBody>
      </p:sp>
    </p:spTree>
    <p:extLst>
      <p:ext uri="{BB962C8B-B14F-4D97-AF65-F5344CB8AC3E}">
        <p14:creationId xmlns:p14="http://schemas.microsoft.com/office/powerpoint/2010/main" val="35251234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A person commits an offense if, with the intent to deceive, the person knowingly makes a report as provided in this chapter that is false.  An offense under this subsection is a state jail felony unless it is shown on the trial of the offense that the person has previously been convicted under this section, in which case the offense is a felony of the third degree.</a:t>
            </a:r>
          </a:p>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47</a:t>
            </a:fld>
            <a:endParaRPr lang="en-US"/>
          </a:p>
        </p:txBody>
      </p:sp>
    </p:spTree>
    <p:extLst>
      <p:ext uri="{BB962C8B-B14F-4D97-AF65-F5344CB8AC3E}">
        <p14:creationId xmlns:p14="http://schemas.microsoft.com/office/powerpoint/2010/main" val="17412543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48</a:t>
            </a:fld>
            <a:endParaRPr lang="en-US"/>
          </a:p>
        </p:txBody>
      </p:sp>
    </p:spTree>
    <p:extLst>
      <p:ext uri="{BB962C8B-B14F-4D97-AF65-F5344CB8AC3E}">
        <p14:creationId xmlns:p14="http://schemas.microsoft.com/office/powerpoint/2010/main" val="29736834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49</a:t>
            </a:fld>
            <a:endParaRPr lang="en-US"/>
          </a:p>
        </p:txBody>
      </p:sp>
    </p:spTree>
    <p:extLst>
      <p:ext uri="{BB962C8B-B14F-4D97-AF65-F5344CB8AC3E}">
        <p14:creationId xmlns:p14="http://schemas.microsoft.com/office/powerpoint/2010/main" val="30406546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50</a:t>
            </a:fld>
            <a:endParaRPr lang="en-US"/>
          </a:p>
        </p:txBody>
      </p:sp>
    </p:spTree>
    <p:extLst>
      <p:ext uri="{BB962C8B-B14F-4D97-AF65-F5344CB8AC3E}">
        <p14:creationId xmlns:p14="http://schemas.microsoft.com/office/powerpoint/2010/main" val="13267950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74BBD-A2DF-47FC-A044-B01B2A958B7E}" type="slidenum">
              <a:rPr lang="en-US" smtClean="0"/>
              <a:t>51</a:t>
            </a:fld>
            <a:endParaRPr lang="en-US"/>
          </a:p>
        </p:txBody>
      </p:sp>
    </p:spTree>
    <p:extLst>
      <p:ext uri="{BB962C8B-B14F-4D97-AF65-F5344CB8AC3E}">
        <p14:creationId xmlns:p14="http://schemas.microsoft.com/office/powerpoint/2010/main" val="3585090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3480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1773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7190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1137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1487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41609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6444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4313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4830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546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8250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19332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9109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6140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4136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56600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72901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0575140"/>
      </p:ext>
    </p:extLst>
  </p:cSld>
  <p:clrMap bg1="dk1" tx1="lt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statutes.legis.state.tx.us/GetStatute.aspx?Code=FA&amp;Value=52.025&amp;Date=6/28/2014"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www.statutes.legis.state.tx.us/GetStatute.aspx?Code=CR&amp;Value=45.058&amp;Date=6/28/2014"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statutes.legis.state.tx.us/GetStatute.aspx?Code=FA&amp;Value=52.02&amp;Date=6/28/2014"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www.statutes.legis.state.tx.us/GetStatute.aspx?Code=FA&amp;Value=52.025&amp;Date=6/28/2014"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www.statutes.legis.state.tx.us/GetStatute.aspx?Code=FA&amp;Value=52.01"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statutes.legis.state.tx.us/GetStatute.aspx?Code=FA&amp;Value=52.03"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www.statutes.legis.state.tx.us/GetStatute.aspx?Code=FA&amp;Value=52.031"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www.statutes.legis.state.tx.us/GetStatute.aspx?Code=FA&amp;Value=52.031&amp;Date=6/28/2014"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statutes.legis.state.tx.us/GetStatute.aspx?Code=CR&amp;Value=63"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statutes.legis.state.tx.us/GetStatute.aspx?Code=ED&amp;Value=37.081&amp;Date=6/28/2014"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hyperlink" Target="http://www.statutes.legis.state.tx.us/GetStatute.aspx?Code=FA&amp;Value=54.01&amp;Date=6/28/2014" TargetMode="External"/><Relationship Id="rId4" Type="http://schemas.openxmlformats.org/officeDocument/2006/relationships/hyperlink" Target="http://www.statutes.legis.state.tx.us/GetStatute.aspx?Code=FA&amp;Value=52.015&amp;Date=6/28/2014"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statutes.legis.state.tx.us/GetStatute.aspx?Code=FA&amp;Value=52.025&amp;Date=6/28/2014"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statutes.legis.state.tx.us/GetStatute.aspx?Code=PE&amp;Value=46.01"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www.statutes.legis.state.tx.us/GetStatute.aspx?Code=FA&amp;Value=53.02"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www.statutes.legis.state.tx.us/GetStatute.aspx?Code=FA&amp;Value=51.12" TargetMode="External"/><Relationship Id="rId2" Type="http://schemas.openxmlformats.org/officeDocument/2006/relationships/hyperlink" Target="http://www.statutes.legis.state.tx.us/GetStatute.aspx?Code=FA&amp;Value=51.09"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statutes.legis.state.tx.us/GetStatute.aspx?Code=FA&amp;Value=53.04" TargetMode="External"/><Relationship Id="rId2" Type="http://schemas.openxmlformats.org/officeDocument/2006/relationships/hyperlink" Target="http://www.statutes.legis.state.tx.us/GetStatute.aspx?Code=FA&amp;Value=53.02" TargetMode="External"/><Relationship Id="rId1" Type="http://schemas.openxmlformats.org/officeDocument/2006/relationships/slideLayout" Target="../slideLayouts/slideLayout2.xml"/><Relationship Id="rId4" Type="http://schemas.openxmlformats.org/officeDocument/2006/relationships/hyperlink" Target="http://www.statutes.legis.state.tx.us/GetStatute.aspx?Code=FA&amp;Value=54.05"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http://www.statutes.legis.state.tx.us/GetStatute.aspx?Code=FA&amp;Value=52.032&amp;Date=6/28/2014"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www.statutes.legis.state.tx.us/GetStatute.aspx?Code=PE&amp;Value=46.01"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hyperlink" Target="http://www.statutes.legis.state.tx.us/GetStatute.aspx?Code=PE&amp;Value=46.05"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www.statutes.legis.state.tx.us/GetStatute.aspx?Code=PE&amp;Value=21.02"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http://www.statutes.legis.state.tx.us/GetStatute.aspx?Code=PE&amp;Value=22.021" TargetMode="External"/><Relationship Id="rId5" Type="http://schemas.openxmlformats.org/officeDocument/2006/relationships/hyperlink" Target="http://www.statutes.legis.state.tx.us/GetStatute.aspx?Code=PE&amp;Value=22.011" TargetMode="External"/><Relationship Id="rId4" Type="http://schemas.openxmlformats.org/officeDocument/2006/relationships/hyperlink" Target="http://www.statutes.legis.state.tx.us/GetStatute.aspx?Code=PE&amp;Value=21.11"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www.statutes.legis.state.tx.us/GetStatute.aspx?Code=FA&amp;Value=261.201"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www.statutes.legis.state.tx.us/GetStatute.aspx?Code=FA&amp;Value=261.101"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hyperlink" Target="http://www.statutes.legis.state.tx.us/GetStatute.aspx?Code=HS&amp;Value=252"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www.statutes.legis.state.tx.us/GetStatute.aspx?Code=FA&amp;Value=261.101"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www.statutes.legis.state.tx.us/GetStatute.aspx?Code=FA&amp;Value=262.102"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www.statutes.legis.state.tx.us/GetStatute.aspx?Code=FA&amp;Value=71.004"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www.statutes.legis.state.tx.us/GetStatute.aspx?Code=CR&amp;Value=63.001"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6D9D-B9ED-47B1-A798-99B730D4317C}"/>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2D68BD98-F9EF-4032-9B8D-9CBF95E49693}"/>
              </a:ext>
            </a:extLst>
          </p:cNvPr>
          <p:cNvSpPr>
            <a:spLocks noGrp="1"/>
          </p:cNvSpPr>
          <p:nvPr>
            <p:ph idx="1"/>
          </p:nvPr>
        </p:nvSpPr>
        <p:spPr/>
        <p:txBody>
          <a:bodyPr/>
          <a:lstStyle/>
          <a:p>
            <a:r>
              <a:rPr lang="en-US" sz="2800" dirty="0">
                <a:effectLst/>
              </a:rPr>
              <a:t> "Child" means a person who is:</a:t>
            </a:r>
            <a:br>
              <a:rPr lang="en-US" sz="2800" dirty="0">
                <a:effectLst/>
              </a:rPr>
            </a:br>
            <a:endParaRPr lang="en-US" sz="2800" dirty="0">
              <a:effectLst/>
            </a:endParaRPr>
          </a:p>
          <a:p>
            <a:pPr marL="494100" indent="-457200">
              <a:buFont typeface="+mj-lt"/>
              <a:buAutoNum type="alphaUcPeriod"/>
            </a:pPr>
            <a:r>
              <a:rPr lang="en-US" sz="2800" dirty="0">
                <a:effectLst/>
              </a:rPr>
              <a:t>10 years of age or older and under 17 years of age</a:t>
            </a:r>
          </a:p>
          <a:p>
            <a:pPr marL="494100" indent="-457200">
              <a:buFont typeface="+mj-lt"/>
              <a:buAutoNum type="alphaUcPeriod"/>
            </a:pPr>
            <a:r>
              <a:rPr lang="en-US" sz="2800" dirty="0">
                <a:effectLst/>
              </a:rPr>
              <a:t>10 years of age or older and under 16 years of age</a:t>
            </a:r>
          </a:p>
          <a:p>
            <a:pPr marL="494100" indent="-457200">
              <a:buFont typeface="+mj-lt"/>
              <a:buAutoNum type="alphaUcPeriod"/>
            </a:pPr>
            <a:r>
              <a:rPr lang="en-US" sz="2800" dirty="0">
                <a:effectLst/>
              </a:rPr>
              <a:t>5 years of age to 18 years of age</a:t>
            </a:r>
          </a:p>
          <a:p>
            <a:pPr marL="494100" indent="-457200">
              <a:buFont typeface="+mj-lt"/>
              <a:buAutoNum type="alphaUcPeriod"/>
            </a:pPr>
            <a:r>
              <a:rPr lang="en-US" sz="2800" dirty="0">
                <a:effectLst/>
              </a:rPr>
              <a:t>11 years of age or older and under 17 years of age</a:t>
            </a:r>
          </a:p>
          <a:p>
            <a:pPr marL="36900" indent="0">
              <a:buNone/>
            </a:pPr>
            <a:endParaRPr lang="en-US" dirty="0">
              <a:effectLst/>
            </a:endParaRPr>
          </a:p>
        </p:txBody>
      </p:sp>
    </p:spTree>
    <p:extLst>
      <p:ext uri="{BB962C8B-B14F-4D97-AF65-F5344CB8AC3E}">
        <p14:creationId xmlns:p14="http://schemas.microsoft.com/office/powerpoint/2010/main" val="1769409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6D9D-B9ED-47B1-A798-99B730D4317C}"/>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2D68BD98-F9EF-4032-9B8D-9CBF95E49693}"/>
              </a:ext>
            </a:extLst>
          </p:cNvPr>
          <p:cNvSpPr>
            <a:spLocks noGrp="1"/>
          </p:cNvSpPr>
          <p:nvPr>
            <p:ph idx="1"/>
          </p:nvPr>
        </p:nvSpPr>
        <p:spPr/>
        <p:txBody>
          <a:bodyPr>
            <a:normAutofit/>
          </a:bodyPr>
          <a:lstStyle/>
          <a:p>
            <a:r>
              <a:rPr lang="en-US" sz="2400" dirty="0">
                <a:effectLst/>
              </a:rPr>
              <a:t> "Status offender" means:</a:t>
            </a:r>
            <a:br>
              <a:rPr lang="en-US" sz="2400" dirty="0">
                <a:effectLst/>
              </a:rPr>
            </a:br>
            <a:endParaRPr lang="en-US" sz="2400" dirty="0">
              <a:effectLst/>
            </a:endParaRPr>
          </a:p>
          <a:p>
            <a:pPr marL="494100" indent="-457200">
              <a:buFont typeface="+mj-lt"/>
              <a:buAutoNum type="alphaUcPeriod"/>
            </a:pPr>
            <a:r>
              <a:rPr lang="en-US" sz="2400" dirty="0">
                <a:effectLst/>
              </a:rPr>
              <a:t>a child who is accused, adjudicated, or convicted for conduct that would, under state law, be a crime if committed by an adult.</a:t>
            </a:r>
          </a:p>
          <a:p>
            <a:pPr marL="494100" indent="-457200">
              <a:buFont typeface="+mj-lt"/>
              <a:buAutoNum type="alphaUcPeriod"/>
            </a:pPr>
            <a:r>
              <a:rPr lang="en-US" sz="2400" dirty="0">
                <a:effectLst/>
              </a:rPr>
              <a:t>a child who is accused, adjudicated, or convicted for conduct that would not, under state law, be a crime if committed by an adult.</a:t>
            </a:r>
          </a:p>
          <a:p>
            <a:pPr marL="494100" indent="-457200">
              <a:buFont typeface="+mj-lt"/>
              <a:buAutoNum type="alphaUcPeriod"/>
            </a:pPr>
            <a:r>
              <a:rPr lang="en-US" sz="2400" dirty="0">
                <a:effectLst/>
              </a:rPr>
              <a:t>a child who is accused, adjudicated, or convicted for delinquent conduct </a:t>
            </a:r>
          </a:p>
          <a:p>
            <a:pPr marL="494100" indent="-457200">
              <a:buFont typeface="+mj-lt"/>
              <a:buAutoNum type="alphaUcPeriod"/>
            </a:pPr>
            <a:r>
              <a:rPr lang="en-US" sz="2400" dirty="0">
                <a:effectLst/>
              </a:rPr>
              <a:t>a child who is convicted of an felony</a:t>
            </a:r>
          </a:p>
          <a:p>
            <a:pPr marL="36900" indent="0">
              <a:buNone/>
            </a:pPr>
            <a:endParaRPr lang="en-US" sz="2400" dirty="0">
              <a:effectLst/>
            </a:endParaRPr>
          </a:p>
        </p:txBody>
      </p:sp>
    </p:spTree>
    <p:extLst>
      <p:ext uri="{BB962C8B-B14F-4D97-AF65-F5344CB8AC3E}">
        <p14:creationId xmlns:p14="http://schemas.microsoft.com/office/powerpoint/2010/main" val="955676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6D9D-B9ED-47B1-A798-99B730D4317C}"/>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2D68BD98-F9EF-4032-9B8D-9CBF95E49693}"/>
              </a:ext>
            </a:extLst>
          </p:cNvPr>
          <p:cNvSpPr>
            <a:spLocks noGrp="1"/>
          </p:cNvSpPr>
          <p:nvPr>
            <p:ph idx="1"/>
          </p:nvPr>
        </p:nvSpPr>
        <p:spPr/>
        <p:txBody>
          <a:bodyPr>
            <a:normAutofit lnSpcReduction="10000"/>
          </a:bodyPr>
          <a:lstStyle/>
          <a:p>
            <a:pPr marL="36900" indent="0">
              <a:buNone/>
            </a:pPr>
            <a:r>
              <a:rPr lang="en-US" sz="2400" dirty="0">
                <a:effectLst/>
              </a:rPr>
              <a:t>Delinquent Conduct is:</a:t>
            </a:r>
          </a:p>
          <a:p>
            <a:pPr marL="494100" indent="-457200">
              <a:buFont typeface="+mj-lt"/>
              <a:buAutoNum type="alphaUcPeriod"/>
            </a:pPr>
            <a:r>
              <a:rPr lang="en-US" sz="2400" dirty="0">
                <a:effectLst/>
              </a:rPr>
              <a:t>conduct, other than a traffic offense, that violates a penal law of this state or of the United States punishable by imprisonment or by confinement in jail</a:t>
            </a:r>
          </a:p>
          <a:p>
            <a:pPr marL="494100" indent="-457200">
              <a:buFont typeface="+mj-lt"/>
              <a:buAutoNum type="alphaUcPeriod"/>
            </a:pPr>
            <a:r>
              <a:rPr lang="en-US" sz="2400" dirty="0">
                <a:effectLst/>
              </a:rPr>
              <a:t>a traffic offense that violates a penal law of this state or of the United States punishable by imprisonment or by confinement in jail</a:t>
            </a:r>
          </a:p>
          <a:p>
            <a:pPr marL="494100" indent="-457200">
              <a:buFont typeface="+mj-lt"/>
              <a:buAutoNum type="alphaUcPeriod"/>
            </a:pPr>
            <a:r>
              <a:rPr lang="en-US" sz="2400" dirty="0">
                <a:effectLst/>
              </a:rPr>
              <a:t>conduct, including traffic offenses, that violates a penal law of this state or of the United States punishable by imprisonment or by confinement in jail</a:t>
            </a:r>
          </a:p>
          <a:p>
            <a:pPr marL="494100" indent="-457200">
              <a:buFont typeface="+mj-lt"/>
              <a:buAutoNum type="alphaUcPeriod"/>
            </a:pPr>
            <a:r>
              <a:rPr lang="en-US" sz="2400" dirty="0">
                <a:effectLst/>
              </a:rPr>
              <a:t>conduct, other than a traffic offense, that violates a penal law of this state or of the United States punishable by a fine only</a:t>
            </a:r>
          </a:p>
          <a:p>
            <a:pPr marL="36900" indent="0">
              <a:buNone/>
            </a:pPr>
            <a:endParaRPr lang="en-US" sz="2400" dirty="0">
              <a:effectLst/>
            </a:endParaRPr>
          </a:p>
          <a:p>
            <a:pPr marL="494100" indent="-457200">
              <a:buFont typeface="+mj-lt"/>
              <a:buAutoNum type="alphaUcPeriod"/>
            </a:pPr>
            <a:endParaRPr lang="en-US" sz="2400" dirty="0">
              <a:effectLst/>
            </a:endParaRPr>
          </a:p>
        </p:txBody>
      </p:sp>
    </p:spTree>
    <p:extLst>
      <p:ext uri="{BB962C8B-B14F-4D97-AF65-F5344CB8AC3E}">
        <p14:creationId xmlns:p14="http://schemas.microsoft.com/office/powerpoint/2010/main" val="39448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6D9D-B9ED-47B1-A798-99B730D4317C}"/>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2D68BD98-F9EF-4032-9B8D-9CBF95E49693}"/>
              </a:ext>
            </a:extLst>
          </p:cNvPr>
          <p:cNvSpPr>
            <a:spLocks noGrp="1"/>
          </p:cNvSpPr>
          <p:nvPr>
            <p:ph idx="1"/>
          </p:nvPr>
        </p:nvSpPr>
        <p:spPr>
          <a:xfrm>
            <a:off x="913795" y="1732449"/>
            <a:ext cx="10353762" cy="4442108"/>
          </a:xfrm>
        </p:spPr>
        <p:txBody>
          <a:bodyPr>
            <a:normAutofit/>
          </a:bodyPr>
          <a:lstStyle/>
          <a:p>
            <a:pPr marL="36900" indent="0">
              <a:buNone/>
            </a:pPr>
            <a:r>
              <a:rPr lang="en-US" sz="2400" dirty="0">
                <a:effectLst/>
              </a:rPr>
              <a:t>Conduct Indicating a Need for Supervision means:</a:t>
            </a:r>
          </a:p>
          <a:p>
            <a:pPr marL="494100" indent="-457200">
              <a:buFont typeface="+mj-lt"/>
              <a:buAutoNum type="alphaUcPeriod"/>
            </a:pPr>
            <a:r>
              <a:rPr lang="en-US" sz="2400" dirty="0">
                <a:effectLst/>
              </a:rPr>
              <a:t>conduct, other than a traffic offense, that violates the penal laws of this state of the grade of misdemeanor that are punishable by fine only</a:t>
            </a:r>
          </a:p>
          <a:p>
            <a:pPr marL="494100" indent="-457200">
              <a:buFont typeface="+mj-lt"/>
              <a:buAutoNum type="alphaUcPeriod"/>
            </a:pPr>
            <a:r>
              <a:rPr lang="en-US" sz="2400" dirty="0">
                <a:effectLst/>
              </a:rPr>
              <a:t>a traffic offense that violates a penal law of this state or of the United States punishable by imprisonment or by confinement in jail</a:t>
            </a:r>
          </a:p>
          <a:p>
            <a:pPr marL="494100" indent="-457200">
              <a:buFont typeface="+mj-lt"/>
              <a:buAutoNum type="alphaUcPeriod"/>
            </a:pPr>
            <a:r>
              <a:rPr lang="en-US" sz="2400" dirty="0">
                <a:effectLst/>
              </a:rPr>
              <a:t>conduct that violates a penal law of this state or of the United States punishable by imprisonment or by confinement in jail</a:t>
            </a:r>
          </a:p>
          <a:p>
            <a:pPr marL="494100" indent="-457200">
              <a:buFont typeface="+mj-lt"/>
              <a:buAutoNum type="alphaUcPeriod"/>
            </a:pPr>
            <a:r>
              <a:rPr lang="en-US" sz="2400" dirty="0">
                <a:effectLst/>
              </a:rPr>
              <a:t>conduct, other than a traffic offense, that violates a penal law of this state or of the United States punishable by imprisonment or by confinement in jail</a:t>
            </a:r>
          </a:p>
          <a:p>
            <a:pPr marL="494100" indent="-457200">
              <a:buFont typeface="+mj-lt"/>
              <a:buAutoNum type="alphaUcPeriod"/>
            </a:pPr>
            <a:endParaRPr lang="en-US" sz="2400" dirty="0">
              <a:effectLst/>
            </a:endParaRPr>
          </a:p>
          <a:p>
            <a:pPr marL="494100" indent="-457200">
              <a:buFont typeface="+mj-lt"/>
              <a:buAutoNum type="alphaUcPeriod"/>
            </a:pPr>
            <a:endParaRPr lang="en-US" sz="2400" dirty="0">
              <a:effectLst/>
            </a:endParaRPr>
          </a:p>
          <a:p>
            <a:pPr marL="494100" indent="-457200">
              <a:buFont typeface="+mj-lt"/>
              <a:buAutoNum type="alphaUcPeriod"/>
            </a:pPr>
            <a:endParaRPr lang="en-US" sz="2400" dirty="0">
              <a:effectLst/>
            </a:endParaRPr>
          </a:p>
          <a:p>
            <a:pPr marL="36900" indent="0">
              <a:buNone/>
            </a:pPr>
            <a:endParaRPr lang="en-US" sz="2400" dirty="0">
              <a:effectLst/>
            </a:endParaRPr>
          </a:p>
          <a:p>
            <a:pPr marL="494100" indent="-457200">
              <a:buFont typeface="+mj-lt"/>
              <a:buAutoNum type="alphaUcPeriod"/>
            </a:pPr>
            <a:endParaRPr lang="en-US" sz="2400" dirty="0">
              <a:effectLst/>
            </a:endParaRPr>
          </a:p>
        </p:txBody>
      </p:sp>
    </p:spTree>
    <p:extLst>
      <p:ext uri="{BB962C8B-B14F-4D97-AF65-F5344CB8AC3E}">
        <p14:creationId xmlns:p14="http://schemas.microsoft.com/office/powerpoint/2010/main" val="179434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6D9D-B9ED-47B1-A798-99B730D4317C}"/>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2D68BD98-F9EF-4032-9B8D-9CBF95E49693}"/>
              </a:ext>
            </a:extLst>
          </p:cNvPr>
          <p:cNvSpPr>
            <a:spLocks noGrp="1"/>
          </p:cNvSpPr>
          <p:nvPr>
            <p:ph idx="1"/>
          </p:nvPr>
        </p:nvSpPr>
        <p:spPr>
          <a:xfrm>
            <a:off x="913795" y="1806292"/>
            <a:ext cx="10353762" cy="4442108"/>
          </a:xfrm>
        </p:spPr>
        <p:txBody>
          <a:bodyPr>
            <a:normAutofit lnSpcReduction="10000"/>
          </a:bodyPr>
          <a:lstStyle/>
          <a:p>
            <a:pPr marL="36900" indent="0">
              <a:buNone/>
            </a:pPr>
            <a:r>
              <a:rPr lang="en-US" sz="2400" dirty="0">
                <a:effectLst/>
              </a:rPr>
              <a:t>Juvenile courts have jurisdiction over which of the following:</a:t>
            </a:r>
          </a:p>
          <a:p>
            <a:pPr marL="494100" indent="-457200">
              <a:buFont typeface="+mj-lt"/>
              <a:buAutoNum type="alphaUcPeriod"/>
            </a:pPr>
            <a:r>
              <a:rPr lang="en-US" sz="2400" dirty="0">
                <a:effectLst/>
              </a:rPr>
              <a:t>all cases involving delinquent conduct engaged in by a person who was a child at the time the person engaged in the conduct</a:t>
            </a:r>
          </a:p>
          <a:p>
            <a:pPr marL="494100" indent="-457200">
              <a:buFont typeface="+mj-lt"/>
              <a:buAutoNum type="alphaUcPeriod"/>
            </a:pPr>
            <a:r>
              <a:rPr lang="en-US" sz="2400" dirty="0">
                <a:effectLst/>
              </a:rPr>
              <a:t>all cases involving conduct indicating a need for supervision engaged in by a person who was a child at the time the person engaged in the conduct</a:t>
            </a:r>
          </a:p>
          <a:p>
            <a:pPr marL="494100" indent="-457200">
              <a:buFont typeface="+mj-lt"/>
              <a:buAutoNum type="alphaUcPeriod"/>
            </a:pPr>
            <a:r>
              <a:rPr lang="en-US" sz="2400" dirty="0">
                <a:effectLst/>
              </a:rPr>
              <a:t>all cases involving the delinquent conduct or conduct indicating a need for supervision engaged in by a person who was a child at the time the person engaged in the conduct</a:t>
            </a:r>
          </a:p>
          <a:p>
            <a:pPr marL="494100" indent="-457200">
              <a:buFont typeface="+mj-lt"/>
              <a:buAutoNum type="alphaUcPeriod"/>
            </a:pPr>
            <a:r>
              <a:rPr lang="en-US" sz="2400" dirty="0">
                <a:effectLst/>
              </a:rPr>
              <a:t>conduct, other than a traffic offense, that violates a penal law of this state or of the United States punishable by imprisonment or by confinement in jail as committed by a child</a:t>
            </a:r>
          </a:p>
          <a:p>
            <a:pPr marL="494100" indent="-457200">
              <a:buFont typeface="+mj-lt"/>
              <a:buAutoNum type="alphaUcPeriod"/>
            </a:pPr>
            <a:endParaRPr lang="en-US" sz="2400" dirty="0">
              <a:effectLst/>
            </a:endParaRPr>
          </a:p>
          <a:p>
            <a:pPr marL="494100" indent="-457200">
              <a:buFont typeface="+mj-lt"/>
              <a:buAutoNum type="alphaUcPeriod"/>
            </a:pPr>
            <a:endParaRPr lang="en-US" sz="2400" dirty="0">
              <a:effectLst/>
            </a:endParaRPr>
          </a:p>
          <a:p>
            <a:pPr marL="494100" indent="-457200">
              <a:buFont typeface="+mj-lt"/>
              <a:buAutoNum type="alphaUcPeriod"/>
            </a:pPr>
            <a:endParaRPr lang="en-US" sz="2400" dirty="0">
              <a:effectLst/>
            </a:endParaRPr>
          </a:p>
          <a:p>
            <a:pPr marL="36900" indent="0">
              <a:buNone/>
            </a:pPr>
            <a:endParaRPr lang="en-US" sz="2400" dirty="0">
              <a:effectLst/>
            </a:endParaRPr>
          </a:p>
          <a:p>
            <a:pPr marL="494100" indent="-457200">
              <a:buFont typeface="+mj-lt"/>
              <a:buAutoNum type="alphaUcPeriod"/>
            </a:pPr>
            <a:endParaRPr lang="en-US" sz="2400" dirty="0">
              <a:effectLst/>
            </a:endParaRPr>
          </a:p>
        </p:txBody>
      </p:sp>
    </p:spTree>
    <p:extLst>
      <p:ext uri="{BB962C8B-B14F-4D97-AF65-F5344CB8AC3E}">
        <p14:creationId xmlns:p14="http://schemas.microsoft.com/office/powerpoint/2010/main" val="103575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lstStyle/>
          <a:p>
            <a:r>
              <a:rPr lang="en-US" dirty="0">
                <a:effectLst/>
              </a:rPr>
              <a:t>The statement of a child is admissible in evidence in any future proceeding concerning the matter about which the statement was given if:</a:t>
            </a:r>
          </a:p>
          <a:p>
            <a:pPr marL="494100" indent="-457200">
              <a:buFont typeface="+mj-lt"/>
              <a:buAutoNum type="alphaUcPeriod"/>
            </a:pPr>
            <a:r>
              <a:rPr lang="en-US" dirty="0">
                <a:effectLst/>
              </a:rPr>
              <a:t>the statement shows that the child has at some time before the making of the statement received from a magistrate</a:t>
            </a:r>
            <a:r>
              <a:rPr lang="en-US" dirty="0">
                <a:solidFill>
                  <a:srgbClr val="FF0000"/>
                </a:solidFill>
                <a:effectLst/>
              </a:rPr>
              <a:t> </a:t>
            </a:r>
            <a:r>
              <a:rPr lang="en-US" dirty="0">
                <a:effectLst/>
              </a:rPr>
              <a:t>a Miranda warning in the presence of a parent or guardian.</a:t>
            </a:r>
            <a:endParaRPr lang="en-US" dirty="0"/>
          </a:p>
          <a:p>
            <a:pPr marL="494100" indent="-457200">
              <a:buFont typeface="+mj-lt"/>
              <a:buAutoNum type="alphaUcPeriod"/>
            </a:pPr>
            <a:r>
              <a:rPr lang="en-US" dirty="0">
                <a:effectLst/>
              </a:rPr>
              <a:t>the statement shows that the child has at some time before the making of the statement received from a peace officer</a:t>
            </a:r>
            <a:r>
              <a:rPr lang="en-US" dirty="0">
                <a:solidFill>
                  <a:srgbClr val="FF0000"/>
                </a:solidFill>
                <a:effectLst/>
              </a:rPr>
              <a:t> </a:t>
            </a:r>
            <a:r>
              <a:rPr lang="en-US" dirty="0">
                <a:effectLst/>
              </a:rPr>
              <a:t>a Miranda warning.</a:t>
            </a:r>
          </a:p>
          <a:p>
            <a:pPr marL="494100" indent="-457200">
              <a:buFont typeface="+mj-lt"/>
              <a:buAutoNum type="alphaUcPeriod"/>
            </a:pPr>
            <a:r>
              <a:rPr lang="en-US" dirty="0">
                <a:effectLst/>
              </a:rPr>
              <a:t>the statement shows that the child has at some time before the making of the statement received a phone call and the opportunity to contact an attorney.</a:t>
            </a:r>
          </a:p>
          <a:p>
            <a:pPr marL="494100" indent="-457200">
              <a:buFont typeface="+mj-lt"/>
              <a:buAutoNum type="alphaUcPeriod"/>
            </a:pPr>
            <a:r>
              <a:rPr lang="en-US" dirty="0">
                <a:effectLst/>
              </a:rPr>
              <a:t>the statement shows that the child has at some time before the making of the statement received from a magistrate a Miranda warning.</a:t>
            </a:r>
          </a:p>
          <a:p>
            <a:pPr marL="494100" indent="-457200">
              <a:buFont typeface="+mj-lt"/>
              <a:buAutoNum type="alphaUcPeriod"/>
            </a:pP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3737070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4" end="4"/>
                                            </p:txEl>
                                          </p:spTgt>
                                        </p:tgtEl>
                                      </p:cBhvr>
                                    </p:animEffect>
                                    <p:animScale>
                                      <p:cBhvr>
                                        <p:cTn id="7" dur="250" autoRev="1" fill="hold"/>
                                        <p:tgtEl>
                                          <p:spTgt spid="3">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pPr marL="36900" indent="0">
              <a:buNone/>
            </a:pPr>
            <a:r>
              <a:rPr lang="en-US" dirty="0">
                <a:effectLst/>
              </a:rPr>
              <a:t>The statement of a child is not admissible if the statement is made res gestae while a child is in custody for delinquent conduct or conduct indicating a need for supervision.</a:t>
            </a:r>
          </a:p>
          <a:p>
            <a:pPr marL="36900" indent="0">
              <a:buNone/>
            </a:pPr>
            <a:endParaRPr lang="en-US" dirty="0">
              <a:effectLst/>
            </a:endParaRPr>
          </a:p>
          <a:p>
            <a:pPr marL="36900" indent="0" algn="ctr">
              <a:buNone/>
            </a:pPr>
            <a:r>
              <a:rPr lang="en-US" sz="4000" dirty="0">
                <a:effectLst/>
              </a:rPr>
              <a:t>TRUE                           </a:t>
            </a:r>
          </a:p>
          <a:p>
            <a:pPr marL="36900" indent="0" algn="ctr">
              <a:buNone/>
            </a:pPr>
            <a:r>
              <a:rPr lang="en-US" sz="4000" dirty="0">
                <a:effectLst/>
              </a:rPr>
              <a:t>FALSE</a:t>
            </a: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1208596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lstStyle/>
          <a:p>
            <a:pPr marL="36900" indent="0" algn="ctr">
              <a:buNone/>
            </a:pPr>
            <a:r>
              <a:rPr lang="en-US" dirty="0">
                <a:effectLst/>
              </a:rPr>
              <a:t>An electronic recording of a child's statement made under Subsection (a)(5) or (b)(2)(B) shall be preserved until all juvenile or criminal matters relating to any conduct referred to in the statement are final, including the exhaustion of all appeals, or barred from prosecution.</a:t>
            </a:r>
          </a:p>
          <a:p>
            <a:pPr marL="36900" indent="0" algn="ctr">
              <a:buNone/>
            </a:pPr>
            <a:endParaRPr lang="en-US" dirty="0">
              <a:effectLst/>
            </a:endParaRPr>
          </a:p>
          <a:p>
            <a:pPr marL="36900" indent="0" algn="ctr">
              <a:buNone/>
            </a:pPr>
            <a:r>
              <a:rPr lang="en-US" sz="3600" dirty="0">
                <a:effectLst/>
              </a:rPr>
              <a:t>TRUE                           </a:t>
            </a:r>
          </a:p>
          <a:p>
            <a:pPr marL="36900" indent="0" algn="ctr">
              <a:buNone/>
            </a:pPr>
            <a:r>
              <a:rPr lang="en-US" sz="3600" dirty="0">
                <a:effectLst/>
              </a:rPr>
              <a:t>FALSE</a:t>
            </a:r>
          </a:p>
          <a:p>
            <a:endParaRPr lang="en-US" dirty="0"/>
          </a:p>
        </p:txBody>
      </p:sp>
    </p:spTree>
    <p:extLst>
      <p:ext uri="{BB962C8B-B14F-4D97-AF65-F5344CB8AC3E}">
        <p14:creationId xmlns:p14="http://schemas.microsoft.com/office/powerpoint/2010/main" val="159322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lstStyle/>
          <a:p>
            <a:pPr marL="36900" indent="0" algn="ctr">
              <a:buNone/>
            </a:pPr>
            <a:r>
              <a:rPr lang="en-US" dirty="0">
                <a:effectLst/>
              </a:rPr>
              <a:t>An order of adjudication or disposition in a proceeding under this title is not a conviction of crime except in particular certain circumstances.</a:t>
            </a:r>
          </a:p>
          <a:p>
            <a:pPr marL="36900" indent="0" algn="ctr">
              <a:buNone/>
            </a:pPr>
            <a:endParaRPr lang="en-US" dirty="0">
              <a:effectLst/>
            </a:endParaRPr>
          </a:p>
          <a:p>
            <a:pPr marL="36900" indent="0" algn="ctr">
              <a:buNone/>
            </a:pPr>
            <a:r>
              <a:rPr lang="en-US" sz="3600" dirty="0">
                <a:effectLst/>
              </a:rPr>
              <a:t>TRUE                           </a:t>
            </a:r>
          </a:p>
          <a:p>
            <a:pPr marL="36900" indent="0" algn="ctr">
              <a:buNone/>
            </a:pPr>
            <a:r>
              <a:rPr lang="en-US" sz="3600" dirty="0">
                <a:effectLst/>
              </a:rPr>
              <a:t>FALSE</a:t>
            </a:r>
          </a:p>
          <a:p>
            <a:endParaRPr lang="en-US" dirty="0"/>
          </a:p>
        </p:txBody>
      </p:sp>
    </p:spTree>
    <p:extLst>
      <p:ext uri="{BB962C8B-B14F-4D97-AF65-F5344CB8AC3E}">
        <p14:creationId xmlns:p14="http://schemas.microsoft.com/office/powerpoint/2010/main" val="3002842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dirty="0">
                <a:effectLst/>
              </a:rPr>
              <a:t>A child may be detained in which of the following (select all that apply):</a:t>
            </a:r>
          </a:p>
          <a:p>
            <a:pPr marL="494100" indent="-457200">
              <a:buFont typeface="+mj-lt"/>
              <a:buAutoNum type="alphaUcPeriod"/>
            </a:pPr>
            <a:r>
              <a:rPr lang="en-US" dirty="0">
                <a:effectLst/>
              </a:rPr>
              <a:t>juvenile processing office in compliance with Section </a:t>
            </a:r>
            <a:r>
              <a:rPr lang="en-US" u="sng" dirty="0">
                <a:effectLst/>
                <a:hlinkClick r:id="rId3"/>
              </a:rPr>
              <a:t>52.025</a:t>
            </a:r>
            <a:r>
              <a:rPr lang="en-US" dirty="0">
                <a:effectLst/>
              </a:rPr>
              <a:t>;</a:t>
            </a:r>
          </a:p>
          <a:p>
            <a:pPr marL="494100" indent="-457200">
              <a:buFont typeface="+mj-lt"/>
              <a:buAutoNum type="alphaUcPeriod"/>
            </a:pPr>
            <a:r>
              <a:rPr lang="en-US" dirty="0">
                <a:effectLst/>
              </a:rPr>
              <a:t>place of non-secure custody in compliance with Article </a:t>
            </a:r>
            <a:r>
              <a:rPr lang="en-US" u="sng" dirty="0">
                <a:effectLst/>
                <a:hlinkClick r:id="rId4"/>
              </a:rPr>
              <a:t>45.058</a:t>
            </a:r>
            <a:r>
              <a:rPr lang="en-US" dirty="0">
                <a:effectLst/>
              </a:rPr>
              <a:t>, Code of Criminal Procedure</a:t>
            </a:r>
          </a:p>
          <a:p>
            <a:pPr marL="494100" indent="-457200">
              <a:buFont typeface="+mj-lt"/>
              <a:buAutoNum type="alphaUcPeriod"/>
            </a:pPr>
            <a:r>
              <a:rPr lang="en-US" dirty="0">
                <a:effectLst/>
              </a:rPr>
              <a:t>certified adult detention facility that complies with the requirements of Subsection (f);</a:t>
            </a:r>
          </a:p>
          <a:p>
            <a:pPr marL="494100" indent="-457200">
              <a:buFont typeface="+mj-lt"/>
              <a:buAutoNum type="alphaUcPeriod"/>
            </a:pPr>
            <a:r>
              <a:rPr lang="en-US" dirty="0">
                <a:effectLst/>
              </a:rPr>
              <a:t>secure detention facility as provided by Subsection (j);</a:t>
            </a:r>
          </a:p>
          <a:p>
            <a:pPr marL="494100" indent="-457200">
              <a:buFont typeface="+mj-lt"/>
              <a:buAutoNum type="alphaUcPeriod"/>
            </a:pPr>
            <a:r>
              <a:rPr lang="en-US" dirty="0">
                <a:effectLst/>
              </a:rPr>
              <a:t>county jail or other facility as provided by Subsection (l); or</a:t>
            </a:r>
          </a:p>
          <a:p>
            <a:pPr marL="494100" indent="-457200">
              <a:buFont typeface="+mj-lt"/>
              <a:buAutoNum type="alphaUcPeriod"/>
            </a:pPr>
            <a:r>
              <a:rPr lang="en-US" dirty="0">
                <a:effectLst/>
              </a:rPr>
              <a:t>non-secure correctional facility as provided by Subsection (j-1).</a:t>
            </a:r>
          </a:p>
          <a:p>
            <a:pPr marL="494100" indent="-457200">
              <a:buFont typeface="+mj-lt"/>
              <a:buAutoNum type="alphaUcPeriod"/>
            </a:pPr>
            <a:endParaRPr lang="en-US" dirty="0">
              <a:effectLst/>
            </a:endParaRPr>
          </a:p>
          <a:p>
            <a:pPr marL="494100" indent="-457200">
              <a:buFont typeface="+mj-lt"/>
              <a:buAutoNum type="alphaUcPeriod"/>
            </a:pP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128902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xEl>
                                              <p:pRg st="2" end="2"/>
                                            </p:txEl>
                                          </p:spTgt>
                                        </p:tgtEl>
                                      </p:cBhvr>
                                    </p:animEffect>
                                    <p:animScale>
                                      <p:cBhvr>
                                        <p:cTn id="10" dur="250" autoRev="1" fill="hold"/>
                                        <p:tgtEl>
                                          <p:spTgt spid="3">
                                            <p:txEl>
                                              <p:pRg st="2" end="2"/>
                                            </p:txEl>
                                          </p:spTgt>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3">
                                            <p:txEl>
                                              <p:pRg st="4" end="4"/>
                                            </p:txEl>
                                          </p:spTgt>
                                        </p:tgtEl>
                                      </p:cBhvr>
                                    </p:animEffect>
                                    <p:animScale>
                                      <p:cBhvr>
                                        <p:cTn id="13" dur="250" autoRev="1" fill="hold"/>
                                        <p:tgtEl>
                                          <p:spTgt spid="3">
                                            <p:txEl>
                                              <p:pRg st="4" end="4"/>
                                            </p:txEl>
                                          </p:spTgt>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3">
                                            <p:txEl>
                                              <p:pRg st="5" end="5"/>
                                            </p:txEl>
                                          </p:spTgt>
                                        </p:tgtEl>
                                      </p:cBhvr>
                                    </p:animEffect>
                                    <p:animScale>
                                      <p:cBhvr>
                                        <p:cTn id="16" dur="250" autoRev="1" fill="hold"/>
                                        <p:tgtEl>
                                          <p:spTgt spid="3">
                                            <p:txEl>
                                              <p:pRg st="5" end="5"/>
                                            </p:txEl>
                                          </p:spTgt>
                                        </p:tgtEl>
                                      </p:cBhvr>
                                      <p:by x="105000" y="105000"/>
                                    </p:animScale>
                                  </p:childTnLst>
                                </p:cTn>
                              </p:par>
                              <p:par>
                                <p:cTn id="17" presetID="26" presetClass="emph" presetSubtype="0" fill="hold" nodeType="withEffect">
                                  <p:stCondLst>
                                    <p:cond delay="0"/>
                                  </p:stCondLst>
                                  <p:childTnLst>
                                    <p:animEffect transition="out" filter="fade">
                                      <p:cBhvr>
                                        <p:cTn id="18" dur="500" tmFilter="0, 0; .2, .5; .8, .5; 1, 0"/>
                                        <p:tgtEl>
                                          <p:spTgt spid="3">
                                            <p:txEl>
                                              <p:pRg st="6" end="6"/>
                                            </p:txEl>
                                          </p:spTgt>
                                        </p:tgtEl>
                                      </p:cBhvr>
                                    </p:animEffect>
                                    <p:animScale>
                                      <p:cBhvr>
                                        <p:cTn id="19" dur="250" autoRev="1" fill="hold"/>
                                        <p:tgtEl>
                                          <p:spTgt spid="3">
                                            <p:txEl>
                                              <p:pRg st="6" end="6"/>
                                            </p:txEl>
                                          </p:spTgt>
                                        </p:tgtEl>
                                      </p:cBhvr>
                                      <p:by x="105000" y="105000"/>
                                    </p:animScale>
                                  </p:childTnLst>
                                </p:cTn>
                              </p:par>
                              <p:par>
                                <p:cTn id="20" presetID="1" presetClass="exit"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hidden"/>
                                      </p:to>
                                    </p:set>
                                  </p:childTnLst>
                                  <p:subTnLst>
                                    <p:set>
                                      <p:cBhvr override="childStyle">
                                        <p:cTn dur="1" fill="hold" display="0" masterRel="sameClick" afterEffect="1">
                                          <p:stCondLst>
                                            <p:cond evt="end" delay="0">
                                              <p:tn val="20"/>
                                            </p:cond>
                                          </p:stCondLst>
                                        </p:cTn>
                                        <p:tgtEl>
                                          <p:spTgt spid="3">
                                            <p:txEl>
                                              <p:pRg st="3" end="3"/>
                                            </p:txEl>
                                          </p:spTgt>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pPr marL="36900" indent="0">
              <a:buNone/>
            </a:pPr>
            <a:r>
              <a:rPr lang="en-US" dirty="0">
                <a:effectLst/>
              </a:rPr>
              <a:t>In each county, each judge of the juvenile court and a majority of the members of the juvenile board shall personally inspect all public or private juvenile pre-adjudication secure detention facilities that are located in the county at least annually.</a:t>
            </a:r>
          </a:p>
          <a:p>
            <a:pPr marL="36900" indent="0">
              <a:buNone/>
            </a:pPr>
            <a:endParaRPr lang="en-US" dirty="0">
              <a:effectLst/>
            </a:endParaRPr>
          </a:p>
          <a:p>
            <a:pPr marL="36900" indent="0" algn="ctr">
              <a:buNone/>
            </a:pPr>
            <a:r>
              <a:rPr lang="en-US" sz="4000" dirty="0">
                <a:effectLst/>
              </a:rPr>
              <a:t>TRUE                           </a:t>
            </a:r>
          </a:p>
          <a:p>
            <a:pPr marL="36900" indent="0" algn="ctr">
              <a:buNone/>
            </a:pPr>
            <a:r>
              <a:rPr lang="en-US" sz="4000" dirty="0">
                <a:effectLst/>
              </a:rPr>
              <a:t>FALSE</a:t>
            </a:r>
          </a:p>
          <a:p>
            <a:endParaRPr lang="en-US" dirty="0">
              <a:effectLst/>
            </a:endParaRPr>
          </a:p>
          <a:p>
            <a:pPr marL="494100" indent="-457200">
              <a:buFont typeface="+mj-lt"/>
              <a:buAutoNum type="alphaUcPeriod"/>
            </a:pP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212958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pPr marL="36900" indent="0">
              <a:buNone/>
            </a:pPr>
            <a:r>
              <a:rPr lang="en-US" dirty="0">
                <a:effectLst/>
              </a:rPr>
              <a:t>A child detained in a building that contains a jail, lockup, or other place of secure confinement, including an alcohol or other drug treatment facility, shall not be separated by sight and sound from adults detained in the same building.</a:t>
            </a:r>
          </a:p>
          <a:p>
            <a:pPr marL="36900" indent="0">
              <a:buNone/>
            </a:pPr>
            <a:endParaRPr lang="en-US" dirty="0">
              <a:effectLst/>
            </a:endParaRPr>
          </a:p>
          <a:p>
            <a:pPr marL="36900" indent="0" algn="ctr">
              <a:buNone/>
            </a:pPr>
            <a:r>
              <a:rPr lang="en-US" sz="4000" dirty="0">
                <a:effectLst/>
              </a:rPr>
              <a:t>TRUE                           </a:t>
            </a:r>
          </a:p>
          <a:p>
            <a:pPr marL="36900" indent="0" algn="ctr">
              <a:buNone/>
            </a:pPr>
            <a:r>
              <a:rPr lang="en-US" sz="4000" dirty="0">
                <a:effectLst/>
              </a:rPr>
              <a:t>FALSE</a:t>
            </a:r>
          </a:p>
          <a:p>
            <a:endParaRPr lang="en-US" dirty="0">
              <a:effectLst/>
            </a:endParaRPr>
          </a:p>
          <a:p>
            <a:pPr marL="494100" indent="-457200">
              <a:buFont typeface="+mj-lt"/>
              <a:buAutoNum type="alphaUcPeriod"/>
            </a:pP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62356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pPr marL="36900" indent="0">
              <a:buNone/>
            </a:pPr>
            <a:r>
              <a:rPr lang="en-US" dirty="0">
                <a:effectLst/>
              </a:rPr>
              <a:t>A child may be left unattended in a juvenile processing office only if accompanied by the child's parent, guardian, or other custodian or by the child's attorney.</a:t>
            </a:r>
          </a:p>
          <a:p>
            <a:pPr marL="36900" indent="0">
              <a:buNone/>
            </a:pPr>
            <a:endParaRPr lang="en-US" dirty="0">
              <a:effectLst/>
            </a:endParaRPr>
          </a:p>
          <a:p>
            <a:pPr marL="36900" indent="0" algn="ctr">
              <a:buNone/>
            </a:pPr>
            <a:r>
              <a:rPr lang="en-US" sz="4000" dirty="0">
                <a:effectLst/>
              </a:rPr>
              <a:t>TRUE                           </a:t>
            </a:r>
          </a:p>
          <a:p>
            <a:pPr marL="36900" indent="0" algn="ctr">
              <a:buNone/>
            </a:pPr>
            <a:r>
              <a:rPr lang="en-US" sz="4000" dirty="0">
                <a:effectLst/>
              </a:rPr>
              <a:t>FALSE</a:t>
            </a:r>
          </a:p>
          <a:p>
            <a:endParaRPr lang="en-US" dirty="0">
              <a:effectLst/>
            </a:endParaRPr>
          </a:p>
          <a:p>
            <a:pPr marL="494100" indent="-457200">
              <a:buFont typeface="+mj-lt"/>
              <a:buAutoNum type="alphaUcPeriod"/>
            </a:pP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244977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dirty="0">
                <a:effectLst/>
              </a:rPr>
              <a:t>A child may not be detained in a juvenile processing office for longer than 48 hours.</a:t>
            </a:r>
            <a:endParaRPr lang="en-US" dirty="0"/>
          </a:p>
          <a:p>
            <a:pPr marL="36900" indent="0">
              <a:buNone/>
            </a:pPr>
            <a:endParaRPr lang="en-US" dirty="0">
              <a:effectLst/>
            </a:endParaRPr>
          </a:p>
          <a:p>
            <a:pPr marL="36900" indent="0" algn="ctr">
              <a:buNone/>
            </a:pPr>
            <a:r>
              <a:rPr lang="en-US" sz="4000" dirty="0">
                <a:effectLst/>
              </a:rPr>
              <a:t>TRUE                           </a:t>
            </a:r>
          </a:p>
          <a:p>
            <a:pPr marL="36900" indent="0" algn="ctr">
              <a:buNone/>
            </a:pPr>
            <a:r>
              <a:rPr lang="en-US" sz="4000" dirty="0">
                <a:effectLst/>
              </a:rPr>
              <a:t>FALSE</a:t>
            </a:r>
          </a:p>
          <a:p>
            <a:endParaRPr lang="en-US" dirty="0">
              <a:effectLst/>
            </a:endParaRPr>
          </a:p>
          <a:p>
            <a:pPr marL="494100" indent="-457200">
              <a:buFont typeface="+mj-lt"/>
              <a:buAutoNum type="alphaUcPeriod"/>
            </a:pP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352131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dirty="0">
                <a:effectLst/>
              </a:rPr>
              <a:t>It shall be the duty of the law enforcement officer who has taken a child into custody to transport the child to the appropriate detention facility as provided by Section </a:t>
            </a:r>
            <a:r>
              <a:rPr lang="en-US" u="sng" dirty="0">
                <a:effectLst/>
                <a:hlinkClick r:id="rId3"/>
              </a:rPr>
              <a:t>52.02</a:t>
            </a:r>
            <a:r>
              <a:rPr lang="en-US" dirty="0">
                <a:effectLst/>
              </a:rPr>
              <a:t>(a)(7) juvenile processing office in compliance with Section </a:t>
            </a:r>
            <a:r>
              <a:rPr lang="en-US" u="sng" dirty="0">
                <a:effectLst/>
                <a:hlinkClick r:id="rId4"/>
              </a:rPr>
              <a:t>52.025</a:t>
            </a:r>
            <a:r>
              <a:rPr lang="en-US" u="sng" dirty="0">
                <a:effectLst/>
              </a:rPr>
              <a:t> unless</a:t>
            </a:r>
            <a:r>
              <a:rPr lang="en-US" dirty="0">
                <a:effectLst/>
              </a:rPr>
              <a:t>;</a:t>
            </a:r>
          </a:p>
          <a:p>
            <a:pPr marL="494100" indent="-457200">
              <a:buFont typeface="+mj-lt"/>
              <a:buAutoNum type="alphaUcPeriod"/>
            </a:pPr>
            <a:r>
              <a:rPr lang="en-US" dirty="0">
                <a:effectLst/>
              </a:rPr>
              <a:t>The child is released to a minister, clergy member, or other faith based organization representative.</a:t>
            </a:r>
          </a:p>
          <a:p>
            <a:pPr marL="494100" indent="-457200">
              <a:buFont typeface="+mj-lt"/>
              <a:buAutoNum type="alphaUcPeriod"/>
            </a:pPr>
            <a:r>
              <a:rPr lang="en-US" dirty="0">
                <a:effectLst/>
              </a:rPr>
              <a:t>The child is released to mental health counselor for intervention.</a:t>
            </a:r>
          </a:p>
          <a:p>
            <a:pPr marL="494100" indent="-457200">
              <a:buFont typeface="+mj-lt"/>
              <a:buAutoNum type="alphaUcPeriod"/>
            </a:pPr>
            <a:r>
              <a:rPr lang="en-US" dirty="0">
                <a:effectLst/>
              </a:rPr>
              <a:t>The child is released to parent or guardian.</a:t>
            </a:r>
          </a:p>
          <a:p>
            <a:pPr marL="494100" indent="-457200">
              <a:buFont typeface="+mj-lt"/>
              <a:buAutoNum type="alphaUcPeriod"/>
            </a:pPr>
            <a:r>
              <a:rPr lang="en-US" dirty="0">
                <a:effectLst/>
              </a:rPr>
              <a:t>The child is transferred to a secure federal facility. </a:t>
            </a:r>
          </a:p>
          <a:p>
            <a:pPr marL="494100" indent="-457200">
              <a:buFont typeface="+mj-lt"/>
              <a:buAutoNum type="alphaUcPeriod"/>
            </a:pP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155177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dirty="0">
                <a:effectLst/>
              </a:rPr>
              <a:t>A law enforcement agency shall forward information, including fingerprints, relating to a child who has been taken into custody under Section </a:t>
            </a:r>
            <a:r>
              <a:rPr lang="en-US" dirty="0">
                <a:effectLst/>
                <a:hlinkClick r:id="rId3"/>
              </a:rPr>
              <a:t>52.01</a:t>
            </a:r>
            <a:r>
              <a:rPr lang="en-US" dirty="0">
                <a:effectLst/>
              </a:rPr>
              <a:t> by the agency to the Department of Public Safety for inclusion in the juvenile justice information system created under Subchapter B, but only if the child is referred to juvenile court on or before the</a:t>
            </a:r>
            <a:br>
              <a:rPr lang="en-US" dirty="0">
                <a:effectLst/>
              </a:rPr>
            </a:br>
            <a:r>
              <a:rPr lang="en-US" dirty="0">
                <a:effectLst/>
              </a:rPr>
              <a:t> ____ day after the date the child is taken into custody under Section </a:t>
            </a:r>
            <a:r>
              <a:rPr lang="en-US" dirty="0">
                <a:effectLst/>
                <a:hlinkClick r:id="rId3"/>
              </a:rPr>
              <a:t>52.01</a:t>
            </a:r>
            <a:endParaRPr lang="en-US" dirty="0">
              <a:effectLst/>
            </a:endParaRPr>
          </a:p>
          <a:p>
            <a:pPr marL="494100" indent="-457200">
              <a:buFont typeface="+mj-lt"/>
              <a:buAutoNum type="alphaUcPeriod"/>
            </a:pPr>
            <a:r>
              <a:rPr lang="en-US" dirty="0">
                <a:effectLst/>
              </a:rPr>
              <a:t>15</a:t>
            </a:r>
            <a:r>
              <a:rPr lang="en-US" baseline="30000" dirty="0">
                <a:effectLst/>
              </a:rPr>
              <a:t>th</a:t>
            </a:r>
            <a:endParaRPr lang="en-US" dirty="0">
              <a:effectLst/>
            </a:endParaRPr>
          </a:p>
          <a:p>
            <a:pPr marL="494100" indent="-457200">
              <a:buFont typeface="+mj-lt"/>
              <a:buAutoNum type="alphaUcPeriod"/>
            </a:pPr>
            <a:r>
              <a:rPr lang="en-US" dirty="0">
                <a:effectLst/>
              </a:rPr>
              <a:t>10</a:t>
            </a:r>
            <a:r>
              <a:rPr lang="en-US" baseline="30000" dirty="0">
                <a:effectLst/>
              </a:rPr>
              <a:t>th</a:t>
            </a:r>
            <a:endParaRPr lang="en-US" dirty="0">
              <a:effectLst/>
            </a:endParaRPr>
          </a:p>
          <a:p>
            <a:pPr marL="494100" indent="-457200">
              <a:buFont typeface="+mj-lt"/>
              <a:buAutoNum type="alphaUcPeriod"/>
            </a:pPr>
            <a:r>
              <a:rPr lang="en-US" dirty="0">
                <a:effectLst/>
              </a:rPr>
              <a:t>7</a:t>
            </a:r>
            <a:r>
              <a:rPr lang="en-US" baseline="30000" dirty="0">
                <a:effectLst/>
              </a:rPr>
              <a:t>th</a:t>
            </a:r>
            <a:endParaRPr lang="en-US" dirty="0">
              <a:effectLst/>
            </a:endParaRPr>
          </a:p>
          <a:p>
            <a:pPr marL="494100" indent="-457200">
              <a:buFont typeface="+mj-lt"/>
              <a:buAutoNum type="alphaUcPeriod"/>
            </a:pPr>
            <a:r>
              <a:rPr lang="en-US" dirty="0">
                <a:effectLst/>
              </a:rPr>
              <a:t>90th</a:t>
            </a: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241255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dirty="0">
                <a:effectLst/>
              </a:rPr>
              <a:t>Except as provided by Subsection (f), after the date the child completes an informal disposition under Section </a:t>
            </a:r>
            <a:r>
              <a:rPr lang="en-US" dirty="0">
                <a:effectLst/>
                <a:hlinkClick r:id="rId3"/>
              </a:rPr>
              <a:t>52.03</a:t>
            </a:r>
            <a:r>
              <a:rPr lang="en-US" dirty="0">
                <a:effectLst/>
              </a:rPr>
              <a:t> or after the _____ day after the date the child successfully completes a first offender program under Section </a:t>
            </a:r>
            <a:r>
              <a:rPr lang="en-US" dirty="0">
                <a:effectLst/>
                <a:hlinkClick r:id="rId4"/>
              </a:rPr>
              <a:t>52.031</a:t>
            </a:r>
            <a:r>
              <a:rPr lang="en-US" dirty="0">
                <a:effectLst/>
              </a:rPr>
              <a:t>, the law enforcement agency </a:t>
            </a:r>
            <a:r>
              <a:rPr lang="en-US" dirty="0">
                <a:solidFill>
                  <a:srgbClr val="FFFF00"/>
                </a:solidFill>
                <a:effectLst/>
              </a:rPr>
              <a:t>shall</a:t>
            </a:r>
            <a:r>
              <a:rPr lang="en-US" dirty="0">
                <a:effectLst/>
              </a:rPr>
              <a:t> destroy all information, including photographs and fingerprints, relating to the child.</a:t>
            </a:r>
            <a:endParaRPr lang="en-US" dirty="0"/>
          </a:p>
          <a:p>
            <a:pPr marL="494100" indent="-457200">
              <a:buFont typeface="+mj-lt"/>
              <a:buAutoNum type="alphaUcPeriod"/>
            </a:pPr>
            <a:r>
              <a:rPr lang="en-US" dirty="0">
                <a:effectLst/>
              </a:rPr>
              <a:t>15</a:t>
            </a:r>
            <a:r>
              <a:rPr lang="en-US" baseline="30000" dirty="0">
                <a:effectLst/>
              </a:rPr>
              <a:t>th</a:t>
            </a:r>
            <a:endParaRPr lang="en-US" dirty="0">
              <a:effectLst/>
            </a:endParaRPr>
          </a:p>
          <a:p>
            <a:pPr marL="494100" indent="-457200">
              <a:buFont typeface="+mj-lt"/>
              <a:buAutoNum type="alphaUcPeriod"/>
            </a:pPr>
            <a:r>
              <a:rPr lang="en-US" dirty="0">
                <a:effectLst/>
              </a:rPr>
              <a:t>10</a:t>
            </a:r>
            <a:r>
              <a:rPr lang="en-US" baseline="30000" dirty="0">
                <a:effectLst/>
              </a:rPr>
              <a:t>th</a:t>
            </a:r>
            <a:endParaRPr lang="en-US" dirty="0">
              <a:effectLst/>
            </a:endParaRPr>
          </a:p>
          <a:p>
            <a:pPr marL="494100" indent="-457200">
              <a:buFont typeface="+mj-lt"/>
              <a:buAutoNum type="alphaUcPeriod"/>
            </a:pPr>
            <a:r>
              <a:rPr lang="en-US" dirty="0">
                <a:effectLst/>
              </a:rPr>
              <a:t>7</a:t>
            </a:r>
            <a:r>
              <a:rPr lang="en-US" baseline="30000" dirty="0">
                <a:effectLst/>
              </a:rPr>
              <a:t>th</a:t>
            </a:r>
            <a:endParaRPr lang="en-US" dirty="0">
              <a:effectLst/>
            </a:endParaRPr>
          </a:p>
          <a:p>
            <a:pPr marL="494100" indent="-457200">
              <a:buFont typeface="+mj-lt"/>
              <a:buAutoNum type="alphaUcPeriod"/>
            </a:pPr>
            <a:r>
              <a:rPr lang="en-US" dirty="0">
                <a:effectLst/>
              </a:rPr>
              <a:t>90th</a:t>
            </a: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327674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4" end="4"/>
                                            </p:txEl>
                                          </p:spTgt>
                                        </p:tgtEl>
                                      </p:cBhvr>
                                    </p:animEffect>
                                    <p:animScale>
                                      <p:cBhvr>
                                        <p:cTn id="7" dur="250" autoRev="1" fill="hold"/>
                                        <p:tgtEl>
                                          <p:spTgt spid="3">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dirty="0">
                <a:effectLst/>
              </a:rPr>
              <a:t>A law enforcement agency may maintain information relating to a child after the 90th day after the date the child successfully completes a first offender program under Section </a:t>
            </a:r>
            <a:r>
              <a:rPr lang="en-US" u="sng" dirty="0">
                <a:effectLst/>
                <a:hlinkClick r:id="rId3"/>
              </a:rPr>
              <a:t>52.031</a:t>
            </a:r>
            <a:r>
              <a:rPr lang="en-US" dirty="0">
                <a:effectLst/>
              </a:rPr>
              <a:t> only to determine:</a:t>
            </a:r>
            <a:endParaRPr lang="en-US" dirty="0"/>
          </a:p>
          <a:p>
            <a:pPr marL="494100" indent="-457200">
              <a:buFont typeface="+mj-lt"/>
              <a:buAutoNum type="alphaUcPeriod"/>
            </a:pPr>
            <a:r>
              <a:rPr lang="en-US" dirty="0">
                <a:effectLst/>
              </a:rPr>
              <a:t>the child’s criminal record status.</a:t>
            </a:r>
          </a:p>
          <a:p>
            <a:pPr marL="494100" indent="-457200">
              <a:buFont typeface="+mj-lt"/>
              <a:buAutoNum type="alphaUcPeriod"/>
            </a:pPr>
            <a:r>
              <a:rPr lang="en-US" dirty="0">
                <a:effectLst/>
              </a:rPr>
              <a:t>the child’s status as a status offender.</a:t>
            </a:r>
          </a:p>
          <a:p>
            <a:pPr marL="494100" indent="-457200">
              <a:buFont typeface="+mj-lt"/>
              <a:buAutoNum type="alphaUcPeriod"/>
            </a:pPr>
            <a:r>
              <a:rPr lang="en-US" dirty="0">
                <a:effectLst/>
              </a:rPr>
              <a:t>the child's eligibility to participate in a first offender program.</a:t>
            </a:r>
          </a:p>
          <a:p>
            <a:pPr marL="494100" indent="-457200">
              <a:buFont typeface="+mj-lt"/>
              <a:buAutoNum type="alphaUcPeriod"/>
            </a:pPr>
            <a:r>
              <a:rPr lang="en-US" dirty="0">
                <a:effectLst/>
              </a:rPr>
              <a:t>the child’s eligibility to participate in community service or probation.</a:t>
            </a: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215005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dirty="0">
                <a:effectLst/>
              </a:rPr>
              <a:t>Except as provided by Chapter </a:t>
            </a:r>
            <a:r>
              <a:rPr lang="en-US" dirty="0">
                <a:effectLst/>
                <a:hlinkClick r:id="rId3"/>
              </a:rPr>
              <a:t>63</a:t>
            </a:r>
            <a:r>
              <a:rPr lang="en-US" dirty="0">
                <a:effectLst/>
              </a:rPr>
              <a:t>, Code of Criminal Procedure, a child may not be photographed or fingerprinted without the consent of the juvenile court unless the child is (select all that apply):</a:t>
            </a:r>
          </a:p>
          <a:p>
            <a:pPr marL="792900" lvl="1" indent="-342900">
              <a:buFont typeface="+mj-lt"/>
              <a:buAutoNum type="alphaUcPeriod"/>
            </a:pPr>
            <a:r>
              <a:rPr lang="en-US" dirty="0">
                <a:effectLst/>
              </a:rPr>
              <a:t>taken into custody</a:t>
            </a:r>
          </a:p>
          <a:p>
            <a:pPr marL="792900" lvl="1" indent="-342900">
              <a:buFont typeface="+mj-lt"/>
              <a:buAutoNum type="alphaUcPeriod"/>
            </a:pPr>
            <a:r>
              <a:rPr lang="en-US" dirty="0">
                <a:effectLst/>
              </a:rPr>
              <a:t>detained for a non-violent offense</a:t>
            </a:r>
          </a:p>
          <a:p>
            <a:pPr marL="792900" lvl="1" indent="-342900">
              <a:buFont typeface="+mj-lt"/>
              <a:buAutoNum type="alphaUcPeriod"/>
            </a:pPr>
            <a:r>
              <a:rPr lang="en-US" dirty="0">
                <a:effectLst/>
              </a:rPr>
              <a:t>referred to the juvenile court for conduct that constitutes a felony or a misdemeanor punishable by confinement in jail, regardless of whether the child has been taken into custody</a:t>
            </a:r>
          </a:p>
          <a:p>
            <a:pPr marL="792900" lvl="1" indent="-342900">
              <a:buFont typeface="+mj-lt"/>
              <a:buAutoNum type="alphaUcPeriod"/>
            </a:pPr>
            <a:r>
              <a:rPr lang="en-US" dirty="0">
                <a:effectLst/>
              </a:rPr>
              <a:t>referred to the juvenile court for conduct indicating a need for supervision, regardless of whether the child has been taken into custody</a:t>
            </a:r>
          </a:p>
          <a:p>
            <a:pPr marL="792900" lvl="1" indent="-342900">
              <a:buFont typeface="+mj-lt"/>
              <a:buAutoNum type="alphaUcPeriod"/>
            </a:pP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480958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xEl>
                                              <p:pRg st="3" end="3"/>
                                            </p:txEl>
                                          </p:spTgt>
                                        </p:tgtEl>
                                      </p:cBhvr>
                                    </p:animEffect>
                                    <p:animScale>
                                      <p:cBhvr>
                                        <p:cTn id="10" dur="250" autoRev="1" fill="hold"/>
                                        <p:tgtEl>
                                          <p:spTgt spid="3">
                                            <p:txEl>
                                              <p:pRg st="3" end="3"/>
                                            </p:txEl>
                                          </p:spTgt>
                                        </p:tgtEl>
                                      </p:cBhvr>
                                      <p:by x="105000" y="105000"/>
                                    </p:animScale>
                                  </p:childTnLst>
                                </p:cTn>
                              </p:par>
                              <p:par>
                                <p:cTn id="11" presetID="1" presetClass="exit"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dirty="0">
                <a:effectLst/>
              </a:rPr>
              <a:t>A law enforcement officer may take temporary custody of a child to take the child's fingerprints if (select all that apply):</a:t>
            </a:r>
          </a:p>
          <a:p>
            <a:pPr marL="494100" indent="-457200">
              <a:buFont typeface="+mj-lt"/>
              <a:buAutoNum type="alphaUcPeriod"/>
            </a:pPr>
            <a:r>
              <a:rPr lang="en-US" dirty="0">
                <a:effectLst/>
              </a:rPr>
              <a:t>the officer has probable cause to believe that the child has engaged in delinquent conduct</a:t>
            </a:r>
          </a:p>
          <a:p>
            <a:pPr marL="494100" indent="-457200">
              <a:buFont typeface="+mj-lt"/>
              <a:buAutoNum type="alphaUcPeriod"/>
            </a:pPr>
            <a:r>
              <a:rPr lang="en-US" dirty="0">
                <a:effectLst/>
              </a:rPr>
              <a:t>the officer has investigated that conduct and has found other fingerprints during the investigation</a:t>
            </a:r>
          </a:p>
          <a:p>
            <a:pPr marL="494100" indent="-457200">
              <a:buFont typeface="+mj-lt"/>
              <a:buAutoNum type="alphaUcPeriod"/>
            </a:pPr>
            <a:r>
              <a:rPr lang="en-US" dirty="0">
                <a:effectLst/>
              </a:rPr>
              <a:t>the officer has located previous records of fingerprints for comparison</a:t>
            </a:r>
          </a:p>
          <a:p>
            <a:pPr marL="494100" indent="-457200">
              <a:buFont typeface="+mj-lt"/>
              <a:buAutoNum type="alphaUcPeriod"/>
            </a:pPr>
            <a:r>
              <a:rPr lang="en-US" dirty="0">
                <a:effectLst/>
              </a:rPr>
              <a:t>the officer has probable cause to believe that the child's fingerprints will match the other fingerprints</a:t>
            </a:r>
          </a:p>
          <a:p>
            <a:pPr marL="494100" indent="-457200">
              <a:buFont typeface="+mj-lt"/>
              <a:buAutoNum type="alphaUcPeriod"/>
            </a:pPr>
            <a:r>
              <a:rPr lang="en-US" dirty="0">
                <a:effectLst/>
              </a:rPr>
              <a:t>the officer</a:t>
            </a:r>
            <a:r>
              <a:rPr lang="en-US" dirty="0"/>
              <a:t> reasonably believes the child’s fingerprints are the only evidence available</a:t>
            </a:r>
            <a:endParaRPr lang="en-US" dirty="0">
              <a:effectLst/>
            </a:endParaRPr>
          </a:p>
          <a:p>
            <a:endParaRPr lang="en-US" dirty="0">
              <a:effectLst/>
            </a:endParaRPr>
          </a:p>
          <a:p>
            <a:pPr marL="792900" lvl="1" indent="-342900">
              <a:buFont typeface="+mj-lt"/>
              <a:buAutoNum type="alphaUcPeriod"/>
            </a:pPr>
            <a:endParaRPr lang="en-US" dirty="0">
              <a:effectLst/>
            </a:endParaRP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31059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4" end="4"/>
                                            </p:txEl>
                                          </p:spTgt>
                                        </p:tgtEl>
                                      </p:cBhvr>
                                    </p:animEffect>
                                    <p:animScale>
                                      <p:cBhvr>
                                        <p:cTn id="7" dur="250" autoRev="1" fill="hold"/>
                                        <p:tgtEl>
                                          <p:spTgt spid="3">
                                            <p:txEl>
                                              <p:pRg st="4" end="4"/>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xEl>
                                              <p:pRg st="1" end="1"/>
                                            </p:txEl>
                                          </p:spTgt>
                                        </p:tgtEl>
                                      </p:cBhvr>
                                    </p:animEffect>
                                    <p:animScale>
                                      <p:cBhvr>
                                        <p:cTn id="10" dur="250" autoRev="1" fill="hold"/>
                                        <p:tgtEl>
                                          <p:spTgt spid="3">
                                            <p:txEl>
                                              <p:pRg st="1" end="1"/>
                                            </p:txEl>
                                          </p:spTgt>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3">
                                            <p:txEl>
                                              <p:pRg st="2" end="2"/>
                                            </p:txEl>
                                          </p:spTgt>
                                        </p:tgtEl>
                                      </p:cBhvr>
                                    </p:animEffect>
                                    <p:animScale>
                                      <p:cBhvr>
                                        <p:cTn id="13" dur="250" autoRev="1" fill="hold"/>
                                        <p:tgtEl>
                                          <p:spTgt spid="3">
                                            <p:txEl>
                                              <p:pRg st="2" end="2"/>
                                            </p:txEl>
                                          </p:spTgt>
                                        </p:tgtEl>
                                      </p:cBhvr>
                                      <p:by x="105000" y="105000"/>
                                    </p:animScale>
                                  </p:childTnLst>
                                </p:cTn>
                              </p:par>
                              <p:par>
                                <p:cTn id="14" presetID="1" presetClass="exit"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hidden"/>
                                      </p:to>
                                    </p:set>
                                  </p:childTnLst>
                                </p:cTn>
                              </p:par>
                              <p:par>
                                <p:cTn id="16" presetID="1" presetClass="exit"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lnSpcReduction="10000"/>
          </a:bodyPr>
          <a:lstStyle/>
          <a:p>
            <a:r>
              <a:rPr lang="en-US" sz="2400" dirty="0">
                <a:effectLst/>
              </a:rPr>
              <a:t>A law enforcement officer may take temporary custody of a child to take the child's photograph, or may obtain a photograph of a child from a juvenile probation department in possession of a photograph of the child, if </a:t>
            </a:r>
            <a:br>
              <a:rPr lang="en-US" sz="2400" dirty="0">
                <a:effectLst/>
              </a:rPr>
            </a:br>
            <a:r>
              <a:rPr lang="en-US" sz="2400" dirty="0">
                <a:effectLst/>
              </a:rPr>
              <a:t>(select all that apply):</a:t>
            </a:r>
          </a:p>
          <a:p>
            <a:pPr marL="907200" lvl="1" indent="-457200">
              <a:buFont typeface="+mj-lt"/>
              <a:buAutoNum type="alphaUcPeriod"/>
            </a:pPr>
            <a:r>
              <a:rPr lang="en-US" sz="2200" dirty="0">
                <a:effectLst/>
              </a:rPr>
              <a:t>the officer has probable cause to believe that the child has engaged in delinquent conduct</a:t>
            </a:r>
          </a:p>
          <a:p>
            <a:pPr marL="907200" lvl="1" indent="-457200">
              <a:buFont typeface="+mj-lt"/>
              <a:buAutoNum type="alphaUcPeriod"/>
            </a:pPr>
            <a:r>
              <a:rPr lang="en-US" sz="2200" dirty="0">
                <a:effectLst/>
              </a:rPr>
              <a:t>the officer has probable cause to believe that the child's photograph will be of material assistance in the investigation of that conduct</a:t>
            </a:r>
          </a:p>
          <a:p>
            <a:pPr marL="907200" lvl="1" indent="-457200">
              <a:buFont typeface="+mj-lt"/>
              <a:buAutoNum type="alphaUcPeriod"/>
            </a:pPr>
            <a:r>
              <a:rPr lang="en-US" sz="2200" dirty="0">
                <a:effectLst/>
              </a:rPr>
              <a:t>The officer has a previous photograph to compare it to</a:t>
            </a:r>
          </a:p>
          <a:p>
            <a:pPr marL="907200" lvl="1" indent="-457200">
              <a:buFont typeface="+mj-lt"/>
              <a:buAutoNum type="alphaUcPeriod"/>
            </a:pPr>
            <a:r>
              <a:rPr lang="en-US" sz="2200" dirty="0">
                <a:effectLst/>
              </a:rPr>
              <a:t>The officer has reasonable suspicion the child has engaged in a status offense</a:t>
            </a:r>
          </a:p>
        </p:txBody>
      </p:sp>
    </p:spTree>
    <p:extLst>
      <p:ext uri="{BB962C8B-B14F-4D97-AF65-F5344CB8AC3E}">
        <p14:creationId xmlns:p14="http://schemas.microsoft.com/office/powerpoint/2010/main" val="263124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xEl>
                                              <p:pRg st="2" end="2"/>
                                            </p:txEl>
                                          </p:spTgt>
                                        </p:tgtEl>
                                      </p:cBhvr>
                                    </p:animEffect>
                                    <p:animScale>
                                      <p:cBhvr>
                                        <p:cTn id="10" dur="250" autoRev="1" fill="hold"/>
                                        <p:tgtEl>
                                          <p:spTgt spid="3">
                                            <p:txEl>
                                              <p:pRg st="2" end="2"/>
                                            </p:txEl>
                                          </p:spTgt>
                                        </p:tgtEl>
                                      </p:cBhvr>
                                      <p:by x="105000" y="105000"/>
                                    </p:animScale>
                                  </p:childTnLst>
                                </p:cTn>
                              </p:par>
                              <p:par>
                                <p:cTn id="11" presetID="1" presetClass="exit"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dirty="0">
                <a:effectLst/>
              </a:rPr>
              <a:t>A law enforcement officer who under this section obtains fingerprints or photographs from a child shall:</a:t>
            </a:r>
          </a:p>
          <a:p>
            <a:pPr lvl="1"/>
            <a:r>
              <a:rPr lang="en-US" dirty="0">
                <a:effectLst/>
              </a:rPr>
              <a:t>(1) immediately destroy them if they do not lead to a positive comparison or identification; and</a:t>
            </a:r>
          </a:p>
          <a:p>
            <a:pPr lvl="1"/>
            <a:r>
              <a:rPr lang="en-US" dirty="0">
                <a:effectLst/>
              </a:rPr>
              <a:t>(2) make a reasonable effort to notify the child's parent, guardian, or custodian of the action taken.</a:t>
            </a:r>
          </a:p>
          <a:p>
            <a:pPr marL="450000" lvl="1" indent="0" algn="ctr">
              <a:buNone/>
            </a:pPr>
            <a:r>
              <a:rPr lang="en-US" sz="4000" dirty="0">
                <a:effectLst/>
              </a:rPr>
              <a:t>True</a:t>
            </a:r>
          </a:p>
          <a:p>
            <a:pPr marL="450000" lvl="1" indent="0" algn="ctr">
              <a:buNone/>
            </a:pPr>
            <a:r>
              <a:rPr lang="en-US" sz="4000" dirty="0">
                <a:effectLst/>
              </a:rPr>
              <a:t>False</a:t>
            </a:r>
          </a:p>
        </p:txBody>
      </p:sp>
    </p:spTree>
    <p:extLst>
      <p:ext uri="{BB962C8B-B14F-4D97-AF65-F5344CB8AC3E}">
        <p14:creationId xmlns:p14="http://schemas.microsoft.com/office/powerpoint/2010/main" val="145956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31372"/>
            <a:ext cx="9905998" cy="639651"/>
          </a:xfrm>
        </p:spPr>
        <p:txBody>
          <a:bodyPr>
            <a:normAutofit fontScale="90000"/>
          </a:bodyPr>
          <a:lstStyle/>
          <a:p>
            <a:r>
              <a:rPr lang="en-US" b="1" dirty="0">
                <a:effectLst/>
              </a:rPr>
              <a:t>Knowledge Check</a:t>
            </a:r>
            <a:endParaRPr lang="en-US" b="1" dirty="0"/>
          </a:p>
        </p:txBody>
      </p:sp>
      <p:sp>
        <p:nvSpPr>
          <p:cNvPr id="3" name="Content Placeholder 2"/>
          <p:cNvSpPr>
            <a:spLocks noGrp="1"/>
          </p:cNvSpPr>
          <p:nvPr>
            <p:ph idx="1"/>
          </p:nvPr>
        </p:nvSpPr>
        <p:spPr>
          <a:xfrm>
            <a:off x="1141413" y="1468193"/>
            <a:ext cx="9905998" cy="5055156"/>
          </a:xfrm>
        </p:spPr>
        <p:txBody>
          <a:bodyPr>
            <a:normAutofit fontScale="92500" lnSpcReduction="20000"/>
          </a:bodyPr>
          <a:lstStyle/>
          <a:p>
            <a:r>
              <a:rPr lang="en-US" dirty="0">
                <a:effectLst/>
              </a:rPr>
              <a:t>A child may be taken into custody by a peace officer in which of the following (select all that apply):</a:t>
            </a:r>
          </a:p>
          <a:p>
            <a:pPr marL="494100" indent="-457200">
              <a:buFont typeface="+mj-lt"/>
              <a:buAutoNum type="alphaUcPeriod"/>
            </a:pPr>
            <a:r>
              <a:rPr lang="en-US" dirty="0">
                <a:effectLst/>
              </a:rPr>
              <a:t>pursuant to an order of the juvenile court under the provisions of this subtitle;</a:t>
            </a:r>
          </a:p>
          <a:p>
            <a:pPr marL="494100" indent="-457200">
              <a:buFont typeface="+mj-lt"/>
              <a:buAutoNum type="alphaUcPeriod"/>
            </a:pPr>
            <a:r>
              <a:rPr lang="en-US" dirty="0">
                <a:effectLst/>
              </a:rPr>
              <a:t>pursuant to the laws of arrest;</a:t>
            </a:r>
          </a:p>
          <a:p>
            <a:pPr marL="494100" indent="-457200">
              <a:buFont typeface="+mj-lt"/>
              <a:buAutoNum type="alphaUcPeriod"/>
            </a:pPr>
            <a:r>
              <a:rPr lang="en-US" dirty="0">
                <a:effectLst/>
              </a:rPr>
              <a:t>by a law-enforcement officer, including a school district peace officer 						commissioned under Section </a:t>
            </a:r>
            <a:r>
              <a:rPr lang="en-US" u="sng" dirty="0">
                <a:effectLst/>
                <a:hlinkClick r:id="rId3"/>
              </a:rPr>
              <a:t>37.081</a:t>
            </a:r>
            <a:r>
              <a:rPr lang="en-US" dirty="0">
                <a:effectLst/>
              </a:rPr>
              <a:t>, Education Code, if there is probable cause 				to believe that the child has engaged in:</a:t>
            </a:r>
          </a:p>
          <a:p>
            <a:pPr marL="36900" indent="0">
              <a:buNone/>
            </a:pPr>
            <a:r>
              <a:rPr lang="en-US" dirty="0">
                <a:effectLst/>
              </a:rPr>
              <a:t>			(A)  conduct that violates a penal law of this state or a penal ordinance of any 					political subdivision of this state;</a:t>
            </a:r>
          </a:p>
          <a:p>
            <a:pPr marL="36900" indent="0">
              <a:buNone/>
            </a:pPr>
            <a:r>
              <a:rPr lang="en-US" dirty="0">
                <a:effectLst/>
              </a:rPr>
              <a:t>			(B)  delinquent conduct or conduct indicating a need for supervision; or</a:t>
            </a:r>
          </a:p>
          <a:p>
            <a:pPr marL="36900" indent="0">
              <a:buNone/>
            </a:pPr>
            <a:r>
              <a:rPr lang="en-US" dirty="0">
                <a:effectLst/>
              </a:rPr>
              <a:t>			(C)  conduct that violates a condition of probation imposed by the juvenile court</a:t>
            </a:r>
          </a:p>
          <a:p>
            <a:pPr marL="494100" indent="-457200">
              <a:buFont typeface="+mj-lt"/>
              <a:buAutoNum type="alphaUcPeriod" startAt="4"/>
            </a:pPr>
            <a:r>
              <a:rPr lang="en-US" dirty="0">
                <a:effectLst/>
              </a:rPr>
              <a:t>if there is probable cause to believe that the child has violated a condition of probation imposed by the juvenile court;</a:t>
            </a:r>
          </a:p>
          <a:p>
            <a:pPr marL="494100" indent="-457200">
              <a:buFont typeface="+mj-lt"/>
              <a:buAutoNum type="alphaUcPeriod" startAt="4"/>
            </a:pPr>
            <a:r>
              <a:rPr lang="en-US" dirty="0">
                <a:effectLst/>
              </a:rPr>
              <a:t>pursuant to a directive to apprehend issued as provided by Section </a:t>
            </a:r>
            <a:r>
              <a:rPr lang="en-US" u="sng" dirty="0">
                <a:effectLst/>
                <a:hlinkClick r:id="rId4"/>
              </a:rPr>
              <a:t>52.015</a:t>
            </a:r>
            <a:r>
              <a:rPr lang="en-US" dirty="0">
                <a:effectLst/>
              </a:rPr>
              <a:t>; or</a:t>
            </a:r>
          </a:p>
          <a:p>
            <a:pPr marL="494100" indent="-457200">
              <a:buFont typeface="+mj-lt"/>
              <a:buAutoNum type="alphaUcPeriod" startAt="4"/>
            </a:pPr>
            <a:r>
              <a:rPr lang="en-US" dirty="0">
                <a:effectLst/>
              </a:rPr>
              <a:t>if there is probable cause to believe that the child has violated a condition of release imposed by the juvenile court or referee under Section </a:t>
            </a:r>
            <a:r>
              <a:rPr lang="en-US" u="sng" dirty="0">
                <a:effectLst/>
                <a:hlinkClick r:id="rId5"/>
              </a:rPr>
              <a:t>54.01</a:t>
            </a:r>
            <a:r>
              <a:rPr lang="en-US" dirty="0">
                <a:effectLst/>
              </a:rPr>
              <a:t>.</a:t>
            </a:r>
          </a:p>
        </p:txBody>
      </p:sp>
    </p:spTree>
    <p:extLst>
      <p:ext uri="{BB962C8B-B14F-4D97-AF65-F5344CB8AC3E}">
        <p14:creationId xmlns:p14="http://schemas.microsoft.com/office/powerpoint/2010/main" val="168409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xEl>
                                              <p:pRg st="2" end="2"/>
                                            </p:txEl>
                                          </p:spTgt>
                                        </p:tgtEl>
                                      </p:cBhvr>
                                    </p:animEffect>
                                    <p:animScale>
                                      <p:cBhvr>
                                        <p:cTn id="10" dur="250" autoRev="1" fill="hold"/>
                                        <p:tgtEl>
                                          <p:spTgt spid="3">
                                            <p:txEl>
                                              <p:pRg st="2" end="2"/>
                                            </p:txEl>
                                          </p:spTgt>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3">
                                            <p:txEl>
                                              <p:pRg st="3" end="3"/>
                                            </p:txEl>
                                          </p:spTgt>
                                        </p:tgtEl>
                                      </p:cBhvr>
                                    </p:animEffect>
                                    <p:animScale>
                                      <p:cBhvr>
                                        <p:cTn id="13" dur="250" autoRev="1" fill="hold"/>
                                        <p:tgtEl>
                                          <p:spTgt spid="3">
                                            <p:txEl>
                                              <p:pRg st="3" end="3"/>
                                            </p:txEl>
                                          </p:spTgt>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3">
                                            <p:txEl>
                                              <p:pRg st="4" end="4"/>
                                            </p:txEl>
                                          </p:spTgt>
                                        </p:tgtEl>
                                      </p:cBhvr>
                                    </p:animEffect>
                                    <p:animScale>
                                      <p:cBhvr>
                                        <p:cTn id="16" dur="250" autoRev="1" fill="hold"/>
                                        <p:tgtEl>
                                          <p:spTgt spid="3">
                                            <p:txEl>
                                              <p:pRg st="4" end="4"/>
                                            </p:txEl>
                                          </p:spTgt>
                                        </p:tgtEl>
                                      </p:cBhvr>
                                      <p:by x="105000" y="105000"/>
                                    </p:animScale>
                                  </p:childTnLst>
                                </p:cTn>
                              </p:par>
                              <p:par>
                                <p:cTn id="17" presetID="26" presetClass="emph" presetSubtype="0" fill="hold" nodeType="withEffect">
                                  <p:stCondLst>
                                    <p:cond delay="0"/>
                                  </p:stCondLst>
                                  <p:childTnLst>
                                    <p:animEffect transition="out" filter="fade">
                                      <p:cBhvr>
                                        <p:cTn id="18" dur="500" tmFilter="0, 0; .2, .5; .8, .5; 1, 0"/>
                                        <p:tgtEl>
                                          <p:spTgt spid="3">
                                            <p:txEl>
                                              <p:pRg st="5" end="5"/>
                                            </p:txEl>
                                          </p:spTgt>
                                        </p:tgtEl>
                                      </p:cBhvr>
                                    </p:animEffect>
                                    <p:animScale>
                                      <p:cBhvr>
                                        <p:cTn id="19" dur="250" autoRev="1" fill="hold"/>
                                        <p:tgtEl>
                                          <p:spTgt spid="3">
                                            <p:txEl>
                                              <p:pRg st="5" end="5"/>
                                            </p:txEl>
                                          </p:spTgt>
                                        </p:tgtEl>
                                      </p:cBhvr>
                                      <p:by x="105000" y="105000"/>
                                    </p:animScale>
                                  </p:childTnLst>
                                </p:cTn>
                              </p:par>
                              <p:par>
                                <p:cTn id="20" presetID="26" presetClass="emph" presetSubtype="0" fill="hold" nodeType="withEffect">
                                  <p:stCondLst>
                                    <p:cond delay="0"/>
                                  </p:stCondLst>
                                  <p:childTnLst>
                                    <p:animEffect transition="out" filter="fade">
                                      <p:cBhvr>
                                        <p:cTn id="21" dur="500" tmFilter="0, 0; .2, .5; .8, .5; 1, 0"/>
                                        <p:tgtEl>
                                          <p:spTgt spid="3">
                                            <p:txEl>
                                              <p:pRg st="6" end="6"/>
                                            </p:txEl>
                                          </p:spTgt>
                                        </p:tgtEl>
                                      </p:cBhvr>
                                    </p:animEffect>
                                    <p:animScale>
                                      <p:cBhvr>
                                        <p:cTn id="22" dur="250" autoRev="1" fill="hold"/>
                                        <p:tgtEl>
                                          <p:spTgt spid="3">
                                            <p:txEl>
                                              <p:pRg st="6" end="6"/>
                                            </p:txEl>
                                          </p:spTgt>
                                        </p:tgtEl>
                                      </p:cBhvr>
                                      <p:by x="105000" y="105000"/>
                                    </p:animScale>
                                  </p:childTnLst>
                                </p:cTn>
                              </p:par>
                              <p:par>
                                <p:cTn id="23" presetID="26" presetClass="emph" presetSubtype="0" fill="hold" nodeType="withEffect">
                                  <p:stCondLst>
                                    <p:cond delay="0"/>
                                  </p:stCondLst>
                                  <p:childTnLst>
                                    <p:animEffect transition="out" filter="fade">
                                      <p:cBhvr>
                                        <p:cTn id="24" dur="500" tmFilter="0, 0; .2, .5; .8, .5; 1, 0"/>
                                        <p:tgtEl>
                                          <p:spTgt spid="3">
                                            <p:txEl>
                                              <p:pRg st="8" end="8"/>
                                            </p:txEl>
                                          </p:spTgt>
                                        </p:tgtEl>
                                      </p:cBhvr>
                                    </p:animEffect>
                                    <p:animScale>
                                      <p:cBhvr>
                                        <p:cTn id="25" dur="250" autoRev="1" fill="hold"/>
                                        <p:tgtEl>
                                          <p:spTgt spid="3">
                                            <p:txEl>
                                              <p:pRg st="8" end="8"/>
                                            </p:txEl>
                                          </p:spTgt>
                                        </p:tgtEl>
                                      </p:cBhvr>
                                      <p:by x="105000" y="105000"/>
                                    </p:animScale>
                                  </p:childTnLst>
                                </p:cTn>
                              </p:par>
                              <p:par>
                                <p:cTn id="26" presetID="1" presetClass="exit"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hidden"/>
                                      </p:to>
                                    </p:set>
                                  </p:childTnLst>
                                </p:cTn>
                              </p:par>
                              <p:par>
                                <p:cTn id="28" presetID="1" presetClass="exit" presetSubtype="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a:xfrm>
            <a:off x="913795" y="1743334"/>
            <a:ext cx="10353762" cy="4058751"/>
          </a:xfrm>
        </p:spPr>
        <p:txBody>
          <a:bodyPr>
            <a:normAutofit/>
          </a:bodyPr>
          <a:lstStyle/>
          <a:p>
            <a:r>
              <a:rPr lang="en-US" dirty="0">
                <a:effectLst/>
              </a:rPr>
              <a:t>A law enforcement officer shall take a child into custody under the order of a directive to apprehend. </a:t>
            </a:r>
          </a:p>
          <a:p>
            <a:endParaRPr lang="en-US" dirty="0">
              <a:effectLst/>
            </a:endParaRPr>
          </a:p>
          <a:p>
            <a:pPr marL="36900" indent="0" algn="ctr">
              <a:buNone/>
            </a:pPr>
            <a:r>
              <a:rPr lang="en-US" sz="4000" dirty="0">
                <a:effectLst/>
              </a:rPr>
              <a:t>True</a:t>
            </a:r>
          </a:p>
          <a:p>
            <a:pPr marL="36900" indent="0" algn="ctr">
              <a:buNone/>
            </a:pPr>
            <a:r>
              <a:rPr lang="en-US" sz="4000" dirty="0">
                <a:effectLst/>
              </a:rPr>
              <a:t>False</a:t>
            </a:r>
          </a:p>
        </p:txBody>
      </p:sp>
    </p:spTree>
    <p:extLst>
      <p:ext uri="{BB962C8B-B14F-4D97-AF65-F5344CB8AC3E}">
        <p14:creationId xmlns:p14="http://schemas.microsoft.com/office/powerpoint/2010/main" val="49186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p:txBody>
          <a:bodyPr>
            <a:normAutofit/>
          </a:bodyPr>
          <a:lstStyle/>
          <a:p>
            <a:r>
              <a:rPr lang="en-US" sz="2400" dirty="0">
                <a:effectLst/>
              </a:rPr>
              <a:t>A law enforcement officer may not hold a child in a place of non-secure custody for more than _____ hours.</a:t>
            </a:r>
          </a:p>
          <a:p>
            <a:pPr marL="907200" lvl="1" indent="-457200">
              <a:buFont typeface="+mj-lt"/>
              <a:buAutoNum type="alphaUcPeriod"/>
            </a:pPr>
            <a:r>
              <a:rPr lang="en-US" sz="2200" dirty="0">
                <a:effectLst/>
              </a:rPr>
              <a:t>2</a:t>
            </a:r>
          </a:p>
          <a:p>
            <a:pPr marL="907200" lvl="1" indent="-457200">
              <a:buFont typeface="+mj-lt"/>
              <a:buAutoNum type="alphaUcPeriod"/>
            </a:pPr>
            <a:r>
              <a:rPr lang="en-US" sz="2200" dirty="0">
                <a:effectLst/>
              </a:rPr>
              <a:t>4</a:t>
            </a:r>
          </a:p>
          <a:p>
            <a:pPr marL="907200" lvl="1" indent="-457200">
              <a:buFont typeface="+mj-lt"/>
              <a:buAutoNum type="alphaUcPeriod"/>
            </a:pPr>
            <a:r>
              <a:rPr lang="en-US" sz="2200" dirty="0">
                <a:effectLst/>
              </a:rPr>
              <a:t>8</a:t>
            </a:r>
          </a:p>
          <a:p>
            <a:pPr marL="907200" lvl="1" indent="-457200">
              <a:buFont typeface="+mj-lt"/>
              <a:buAutoNum type="alphaUcPeriod"/>
            </a:pPr>
            <a:r>
              <a:rPr lang="en-US" sz="2200" dirty="0">
                <a:effectLst/>
              </a:rPr>
              <a:t>6</a:t>
            </a:r>
          </a:p>
        </p:txBody>
      </p:sp>
    </p:spTree>
    <p:extLst>
      <p:ext uri="{BB962C8B-B14F-4D97-AF65-F5344CB8AC3E}">
        <p14:creationId xmlns:p14="http://schemas.microsoft.com/office/powerpoint/2010/main" val="404170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hidden"/>
                                      </p:to>
                                    </p:set>
                                  </p:childTnLst>
                                </p:cTn>
                              </p:par>
                              <p:par>
                                <p:cTn id="11" presetID="26" presetClass="emph" presetSubtype="0" fill="hold" nodeType="withEffect">
                                  <p:stCondLst>
                                    <p:cond delay="0"/>
                                  </p:stCondLst>
                                  <p:childTnLst>
                                    <p:animEffect transition="out" filter="fade">
                                      <p:cBhvr>
                                        <p:cTn id="12" dur="500" tmFilter="0, 0; .2, .5; .8, .5; 1, 0"/>
                                        <p:tgtEl>
                                          <p:spTgt spid="3">
                                            <p:txEl>
                                              <p:pRg st="4" end="4"/>
                                            </p:txEl>
                                          </p:spTgt>
                                        </p:tgtEl>
                                      </p:cBhvr>
                                    </p:animEffect>
                                    <p:animScale>
                                      <p:cBhvr>
                                        <p:cTn id="13" dur="250" autoRev="1" fill="hold"/>
                                        <p:tgtEl>
                                          <p:spTgt spid="3">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a:xfrm>
            <a:off x="913795" y="1743334"/>
            <a:ext cx="10353762" cy="4058751"/>
          </a:xfrm>
        </p:spPr>
        <p:txBody>
          <a:bodyPr>
            <a:normAutofit/>
          </a:bodyPr>
          <a:lstStyle/>
          <a:p>
            <a:r>
              <a:rPr lang="en-US" dirty="0">
                <a:effectLst/>
              </a:rPr>
              <a:t>A place of non-secure custody includes a residential placement facility for the rehabilitation of juveniles. </a:t>
            </a:r>
          </a:p>
          <a:p>
            <a:endParaRPr lang="en-US" dirty="0">
              <a:effectLst/>
            </a:endParaRPr>
          </a:p>
          <a:p>
            <a:pPr marL="36900" indent="0" algn="ctr">
              <a:buNone/>
            </a:pPr>
            <a:r>
              <a:rPr lang="en-US" sz="4000" dirty="0">
                <a:effectLst/>
              </a:rPr>
              <a:t>True</a:t>
            </a:r>
          </a:p>
          <a:p>
            <a:pPr marL="36900" indent="0" algn="ctr">
              <a:buNone/>
            </a:pPr>
            <a:r>
              <a:rPr lang="en-US" sz="4000" dirty="0">
                <a:effectLst/>
              </a:rPr>
              <a:t>False</a:t>
            </a:r>
          </a:p>
        </p:txBody>
      </p:sp>
    </p:spTree>
    <p:extLst>
      <p:ext uri="{BB962C8B-B14F-4D97-AF65-F5344CB8AC3E}">
        <p14:creationId xmlns:p14="http://schemas.microsoft.com/office/powerpoint/2010/main" val="2302072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a:xfrm>
            <a:off x="913795" y="1732449"/>
            <a:ext cx="10353762" cy="4515951"/>
          </a:xfrm>
        </p:spPr>
        <p:txBody>
          <a:bodyPr>
            <a:normAutofit lnSpcReduction="10000"/>
          </a:bodyPr>
          <a:lstStyle/>
          <a:p>
            <a:pPr marL="36900" indent="0">
              <a:buNone/>
            </a:pPr>
            <a:r>
              <a:rPr lang="en-US" sz="2400" dirty="0">
                <a:effectLst/>
              </a:rPr>
              <a:t>A law enforcement officer taking a child into custody, without unnecessary delay and without first taking the child to any place other than a juvenile processing office designated under Section </a:t>
            </a:r>
            <a:r>
              <a:rPr lang="en-US" sz="2400" u="sng" dirty="0">
                <a:effectLst/>
                <a:hlinkClick r:id="rId3"/>
              </a:rPr>
              <a:t>52.025</a:t>
            </a:r>
            <a:r>
              <a:rPr lang="en-US" sz="2400" dirty="0">
                <a:effectLst/>
              </a:rPr>
              <a:t>, shall do one of the following:</a:t>
            </a:r>
          </a:p>
          <a:p>
            <a:pPr marL="494100" indent="-457200">
              <a:buFont typeface="+mj-lt"/>
              <a:buAutoNum type="alphaUcPeriod"/>
            </a:pPr>
            <a:r>
              <a:rPr lang="en-US" sz="2400" dirty="0">
                <a:effectLst/>
              </a:rPr>
              <a:t>release the child to a parent, guardian, custodian of the child, or other responsible adult upon that person's promise to bring the child before the juvenile court as requested by the court</a:t>
            </a:r>
          </a:p>
          <a:p>
            <a:pPr marL="494100" indent="-457200">
              <a:buFont typeface="+mj-lt"/>
              <a:buAutoNum type="alphaUcPeriod"/>
            </a:pPr>
            <a:r>
              <a:rPr lang="en-US" sz="2400" dirty="0">
                <a:effectLst/>
              </a:rPr>
              <a:t>bring the child to a rehabilitation center for substance abuse addiction if the child is taken into custody for the offense of public intoxication</a:t>
            </a:r>
          </a:p>
          <a:p>
            <a:pPr marL="494100" indent="-457200">
              <a:buFont typeface="+mj-lt"/>
              <a:buAutoNum type="alphaUcPeriod"/>
            </a:pPr>
            <a:r>
              <a:rPr lang="en-US" sz="2400" dirty="0">
                <a:effectLst/>
              </a:rPr>
              <a:t>bring the child to any magistrate</a:t>
            </a:r>
          </a:p>
          <a:p>
            <a:pPr marL="494100" indent="-457200">
              <a:buFont typeface="+mj-lt"/>
              <a:buAutoNum type="alphaUcPeriod"/>
            </a:pPr>
            <a:r>
              <a:rPr lang="en-US" sz="2400" dirty="0">
                <a:effectLst/>
              </a:rPr>
              <a:t>release the child to a school in the district in which the student lives</a:t>
            </a:r>
          </a:p>
          <a:p>
            <a:pPr marL="494100" indent="-457200">
              <a:buFont typeface="+mj-lt"/>
              <a:buAutoNum type="alphaUcPeriod"/>
            </a:pPr>
            <a:endParaRPr lang="en-US" sz="2400" dirty="0">
              <a:effectLst/>
            </a:endParaRPr>
          </a:p>
          <a:p>
            <a:pPr marL="494100" indent="-457200">
              <a:buFont typeface="+mj-lt"/>
              <a:buAutoNum type="alphaUcPeriod"/>
            </a:pPr>
            <a:endParaRPr lang="en-US" sz="2400" dirty="0">
              <a:effectLst/>
            </a:endParaRPr>
          </a:p>
          <a:p>
            <a:pPr marL="494100" indent="-457200">
              <a:buFont typeface="+mj-lt"/>
              <a:buAutoNum type="alphaUcPeriod"/>
            </a:pPr>
            <a:endParaRPr lang="en-US" sz="2200" dirty="0">
              <a:effectLst/>
            </a:endParaRPr>
          </a:p>
          <a:p>
            <a:pPr marL="907200" lvl="1" indent="-457200">
              <a:buFont typeface="+mj-lt"/>
              <a:buAutoNum type="alphaUcPeriod"/>
            </a:pPr>
            <a:endParaRPr lang="en-US" sz="2200" dirty="0">
              <a:effectLst/>
            </a:endParaRPr>
          </a:p>
          <a:p>
            <a:pPr marL="450000" lvl="1" indent="0">
              <a:buNone/>
            </a:pPr>
            <a:endParaRPr lang="en-US" sz="2200" dirty="0">
              <a:effectLst/>
            </a:endParaRPr>
          </a:p>
        </p:txBody>
      </p:sp>
    </p:spTree>
    <p:extLst>
      <p:ext uri="{BB962C8B-B14F-4D97-AF65-F5344CB8AC3E}">
        <p14:creationId xmlns:p14="http://schemas.microsoft.com/office/powerpoint/2010/main" val="161699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a:xfrm>
            <a:off x="913795" y="1743334"/>
            <a:ext cx="10353762" cy="4058751"/>
          </a:xfrm>
        </p:spPr>
        <p:txBody>
          <a:bodyPr>
            <a:normAutofit/>
          </a:bodyPr>
          <a:lstStyle/>
          <a:p>
            <a:r>
              <a:rPr lang="en-US" dirty="0">
                <a:effectLst/>
              </a:rPr>
              <a:t>A child taken into custody for the offense of driving while intoxicated is not permitted to be video recorded or taken to an </a:t>
            </a:r>
            <a:r>
              <a:rPr lang="en-US" dirty="0" err="1">
                <a:effectLst/>
              </a:rPr>
              <a:t>intoxilyzer</a:t>
            </a:r>
            <a:r>
              <a:rPr lang="en-US" dirty="0">
                <a:effectLst/>
              </a:rPr>
              <a:t>. </a:t>
            </a:r>
          </a:p>
          <a:p>
            <a:endParaRPr lang="en-US" dirty="0">
              <a:effectLst/>
            </a:endParaRPr>
          </a:p>
          <a:p>
            <a:pPr marL="36900" indent="0" algn="ctr">
              <a:buNone/>
            </a:pPr>
            <a:r>
              <a:rPr lang="en-US" sz="4000" dirty="0">
                <a:effectLst/>
              </a:rPr>
              <a:t>True</a:t>
            </a:r>
          </a:p>
          <a:p>
            <a:pPr marL="36900" indent="0" algn="ctr">
              <a:buNone/>
            </a:pPr>
            <a:r>
              <a:rPr lang="en-US" sz="4000" dirty="0">
                <a:effectLst/>
              </a:rPr>
              <a:t>False</a:t>
            </a:r>
          </a:p>
        </p:txBody>
      </p:sp>
    </p:spTree>
    <p:extLst>
      <p:ext uri="{BB962C8B-B14F-4D97-AF65-F5344CB8AC3E}">
        <p14:creationId xmlns:p14="http://schemas.microsoft.com/office/powerpoint/2010/main" val="340076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a:xfrm>
            <a:off x="913795" y="1743334"/>
            <a:ext cx="10353762" cy="4058751"/>
          </a:xfrm>
        </p:spPr>
        <p:txBody>
          <a:bodyPr>
            <a:normAutofit/>
          </a:bodyPr>
          <a:lstStyle/>
          <a:p>
            <a:r>
              <a:rPr lang="en-US" dirty="0">
                <a:effectLst/>
              </a:rPr>
              <a:t>A child who is alleged to have engaged in delinquent conduct and to have used, possessed, or exhibited a firearm, as defined by Section </a:t>
            </a:r>
            <a:r>
              <a:rPr lang="en-US" dirty="0">
                <a:effectLst/>
                <a:hlinkClick r:id="rId3"/>
              </a:rPr>
              <a:t>46.01</a:t>
            </a:r>
            <a:r>
              <a:rPr lang="en-US" dirty="0">
                <a:effectLst/>
              </a:rPr>
              <a:t>, Penal Code, in the commission of the offense shall be detained until the child is released at the direction of the judge of the juvenile court.</a:t>
            </a:r>
          </a:p>
          <a:p>
            <a:pPr marL="36900" indent="0" algn="ctr">
              <a:buNone/>
            </a:pPr>
            <a:r>
              <a:rPr lang="en-US" sz="4000" dirty="0">
                <a:effectLst/>
              </a:rPr>
              <a:t>True</a:t>
            </a:r>
          </a:p>
          <a:p>
            <a:pPr marL="36900" indent="0" algn="ctr">
              <a:buNone/>
            </a:pPr>
            <a:r>
              <a:rPr lang="en-US" sz="4000" dirty="0">
                <a:effectLst/>
              </a:rPr>
              <a:t>False</a:t>
            </a:r>
          </a:p>
        </p:txBody>
      </p:sp>
    </p:spTree>
    <p:extLst>
      <p:ext uri="{BB962C8B-B14F-4D97-AF65-F5344CB8AC3E}">
        <p14:creationId xmlns:p14="http://schemas.microsoft.com/office/powerpoint/2010/main" val="356208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Content Placeholder 2"/>
          <p:cNvSpPr>
            <a:spLocks noGrp="1"/>
          </p:cNvSpPr>
          <p:nvPr>
            <p:ph idx="1"/>
          </p:nvPr>
        </p:nvSpPr>
        <p:spPr>
          <a:xfrm>
            <a:off x="913795" y="1732449"/>
            <a:ext cx="10353762" cy="4515951"/>
          </a:xfrm>
        </p:spPr>
        <p:txBody>
          <a:bodyPr>
            <a:normAutofit fontScale="92500" lnSpcReduction="10000"/>
          </a:bodyPr>
          <a:lstStyle/>
          <a:p>
            <a:pPr marL="36900" indent="0">
              <a:buNone/>
            </a:pPr>
            <a:r>
              <a:rPr lang="en-US" sz="2400" dirty="0">
                <a:effectLst/>
              </a:rPr>
              <a:t>A child taken into custody may be detained prior to hearing on the petition only if (select all that apply):</a:t>
            </a:r>
          </a:p>
          <a:p>
            <a:pPr marL="494100" indent="-457200">
              <a:buFont typeface="+mj-lt"/>
              <a:buAutoNum type="alphaUcPeriod"/>
            </a:pPr>
            <a:r>
              <a:rPr lang="en-US" sz="2400" dirty="0">
                <a:effectLst/>
              </a:rPr>
              <a:t>the child is likely to abscond or be removed from the jurisdiction of the court;</a:t>
            </a:r>
          </a:p>
          <a:p>
            <a:pPr marL="494100" indent="-457200">
              <a:buFont typeface="+mj-lt"/>
              <a:buAutoNum type="alphaUcPeriod"/>
            </a:pPr>
            <a:r>
              <a:rPr lang="en-US" sz="2400" dirty="0">
                <a:effectLst/>
              </a:rPr>
              <a:t>suitable supervision, care, or protection for the child is not being provided by a parent, guardian, custodian, or other person;</a:t>
            </a:r>
          </a:p>
          <a:p>
            <a:pPr marL="494100" indent="-457200">
              <a:buFont typeface="+mj-lt"/>
              <a:buAutoNum type="alphaUcPeriod"/>
            </a:pPr>
            <a:r>
              <a:rPr lang="en-US" sz="2400" dirty="0">
                <a:effectLst/>
              </a:rPr>
              <a:t>the child has no parent, guardian, custodian, or other person able to return the child to the court when required;</a:t>
            </a:r>
          </a:p>
          <a:p>
            <a:pPr marL="494100" indent="-457200">
              <a:buFont typeface="+mj-lt"/>
              <a:buAutoNum type="alphaUcPeriod"/>
            </a:pPr>
            <a:r>
              <a:rPr lang="en-US" sz="2400" dirty="0">
                <a:effectLst/>
              </a:rPr>
              <a:t>the child may be dangerous to himself or herself or the child may threaten the safety of the public if released;</a:t>
            </a:r>
          </a:p>
          <a:p>
            <a:pPr marL="494100" indent="-457200">
              <a:buFont typeface="+mj-lt"/>
              <a:buAutoNum type="alphaUcPeriod"/>
            </a:pPr>
            <a:r>
              <a:rPr lang="en-US" sz="2400" dirty="0">
                <a:effectLst/>
              </a:rPr>
              <a:t>the child has previously been found to be a delinquent child or has previously been convicted of a penal offense punishable by a term in jail or prison and is likely to commit an offense if released</a:t>
            </a:r>
          </a:p>
          <a:p>
            <a:pPr marL="494100" indent="-457200">
              <a:buFont typeface="+mj-lt"/>
              <a:buAutoNum type="alphaUcPeriod"/>
            </a:pPr>
            <a:endParaRPr lang="en-US" sz="2400" dirty="0">
              <a:effectLst/>
            </a:endParaRPr>
          </a:p>
          <a:p>
            <a:pPr marL="494100" indent="-457200">
              <a:buFont typeface="+mj-lt"/>
              <a:buAutoNum type="alphaUcPeriod"/>
            </a:pPr>
            <a:endParaRPr lang="en-US" sz="2200" dirty="0">
              <a:effectLst/>
            </a:endParaRPr>
          </a:p>
          <a:p>
            <a:pPr marL="907200" lvl="1" indent="-457200">
              <a:buFont typeface="+mj-lt"/>
              <a:buAutoNum type="alphaUcPeriod"/>
            </a:pPr>
            <a:endParaRPr lang="en-US" sz="2200" dirty="0">
              <a:effectLst/>
            </a:endParaRPr>
          </a:p>
          <a:p>
            <a:pPr marL="450000" lvl="1" indent="0">
              <a:buNone/>
            </a:pPr>
            <a:endParaRPr lang="en-US" sz="2200" dirty="0">
              <a:effectLst/>
            </a:endParaRPr>
          </a:p>
        </p:txBody>
      </p:sp>
    </p:spTree>
    <p:extLst>
      <p:ext uri="{BB962C8B-B14F-4D97-AF65-F5344CB8AC3E}">
        <p14:creationId xmlns:p14="http://schemas.microsoft.com/office/powerpoint/2010/main" val="426483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xEl>
                                              <p:pRg st="2" end="2"/>
                                            </p:txEl>
                                          </p:spTgt>
                                        </p:tgtEl>
                                      </p:cBhvr>
                                    </p:animEffect>
                                    <p:animScale>
                                      <p:cBhvr>
                                        <p:cTn id="10" dur="250" autoRev="1" fill="hold"/>
                                        <p:tgtEl>
                                          <p:spTgt spid="3">
                                            <p:txEl>
                                              <p:pRg st="2" end="2"/>
                                            </p:txEl>
                                          </p:spTgt>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3">
                                            <p:txEl>
                                              <p:pRg st="3" end="3"/>
                                            </p:txEl>
                                          </p:spTgt>
                                        </p:tgtEl>
                                      </p:cBhvr>
                                    </p:animEffect>
                                    <p:animScale>
                                      <p:cBhvr>
                                        <p:cTn id="13" dur="250" autoRev="1" fill="hold"/>
                                        <p:tgtEl>
                                          <p:spTgt spid="3">
                                            <p:txEl>
                                              <p:pRg st="3" end="3"/>
                                            </p:txEl>
                                          </p:spTgt>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3">
                                            <p:txEl>
                                              <p:pRg st="4" end="4"/>
                                            </p:txEl>
                                          </p:spTgt>
                                        </p:tgtEl>
                                      </p:cBhvr>
                                    </p:animEffect>
                                    <p:animScale>
                                      <p:cBhvr>
                                        <p:cTn id="16" dur="250" autoRev="1" fill="hold"/>
                                        <p:tgtEl>
                                          <p:spTgt spid="3">
                                            <p:txEl>
                                              <p:pRg st="4" end="4"/>
                                            </p:txEl>
                                          </p:spTgt>
                                        </p:tgtEl>
                                      </p:cBhvr>
                                      <p:by x="105000" y="105000"/>
                                    </p:animScale>
                                  </p:childTnLst>
                                </p:cTn>
                              </p:par>
                              <p:par>
                                <p:cTn id="17" presetID="26" presetClass="emph" presetSubtype="0" fill="hold" nodeType="withEffect">
                                  <p:stCondLst>
                                    <p:cond delay="0"/>
                                  </p:stCondLst>
                                  <p:childTnLst>
                                    <p:animEffect transition="out" filter="fade">
                                      <p:cBhvr>
                                        <p:cTn id="18" dur="500" tmFilter="0, 0; .2, .5; .8, .5; 1, 0"/>
                                        <p:tgtEl>
                                          <p:spTgt spid="3">
                                            <p:txEl>
                                              <p:pRg st="5" end="5"/>
                                            </p:txEl>
                                          </p:spTgt>
                                        </p:tgtEl>
                                      </p:cBhvr>
                                    </p:animEffect>
                                    <p:animScale>
                                      <p:cBhvr>
                                        <p:cTn id="19" dur="250" autoRev="1" fill="hold"/>
                                        <p:tgtEl>
                                          <p:spTgt spid="3">
                                            <p:txEl>
                                              <p:pRg st="5" end="5"/>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a:bodyPr>
          <a:lstStyle/>
          <a:p>
            <a:pPr marL="36900" indent="0">
              <a:buNone/>
            </a:pPr>
            <a:r>
              <a:rPr lang="en-US" dirty="0">
                <a:effectLst/>
              </a:rPr>
              <a:t>Except as provided by Subsection (p), if the child is not released under Section </a:t>
            </a:r>
            <a:r>
              <a:rPr lang="en-US" dirty="0">
                <a:effectLst/>
                <a:hlinkClick r:id="rId2"/>
              </a:rPr>
              <a:t>53.02</a:t>
            </a:r>
            <a:r>
              <a:rPr lang="en-US" dirty="0">
                <a:effectLst/>
              </a:rPr>
              <a:t>, a detention hearing without a jury shall be held promptly, but not later than the second working day after the child is taken into custody; provided, however, that when a child is detained on a Friday or Saturday, then such detention hearing shall be held on the first working day after the child is taken into custody.</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161550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fontScale="92500" lnSpcReduction="20000"/>
          </a:bodyPr>
          <a:lstStyle/>
          <a:p>
            <a:pPr lvl="0">
              <a:buClr>
                <a:srgbClr val="DADADA"/>
              </a:buClr>
            </a:pPr>
            <a:r>
              <a:rPr lang="en-US" sz="1800" dirty="0">
                <a:ln>
                  <a:solidFill>
                    <a:prstClr val="black">
                      <a:lumMod val="75000"/>
                      <a:lumOff val="25000"/>
                      <a:alpha val="10000"/>
                    </a:prstClr>
                  </a:solidFill>
                </a:ln>
                <a:solidFill>
                  <a:srgbClr val="DADADA"/>
                </a:solidFill>
                <a:effectLst/>
              </a:rPr>
              <a:t>At the conclusion of the hearing, the court shall order the child released from detention unless it finds that:</a:t>
            </a:r>
          </a:p>
          <a:p>
            <a:pPr lvl="0">
              <a:buClr>
                <a:srgbClr val="DADADA"/>
              </a:buClr>
            </a:pPr>
            <a:r>
              <a:rPr lang="en-US" sz="1800" dirty="0">
                <a:ln>
                  <a:solidFill>
                    <a:prstClr val="black">
                      <a:lumMod val="75000"/>
                      <a:lumOff val="25000"/>
                      <a:alpha val="10000"/>
                    </a:prstClr>
                  </a:solidFill>
                </a:ln>
                <a:solidFill>
                  <a:srgbClr val="DADADA"/>
                </a:solidFill>
                <a:effectLst/>
              </a:rPr>
              <a:t>(1) he is likely to abscond or be removed from the jurisdiction of the court;</a:t>
            </a:r>
          </a:p>
          <a:p>
            <a:pPr lvl="0">
              <a:buClr>
                <a:srgbClr val="DADADA"/>
              </a:buClr>
            </a:pPr>
            <a:r>
              <a:rPr lang="en-US" sz="1800" dirty="0">
                <a:ln>
                  <a:solidFill>
                    <a:prstClr val="black">
                      <a:lumMod val="75000"/>
                      <a:lumOff val="25000"/>
                      <a:alpha val="10000"/>
                    </a:prstClr>
                  </a:solidFill>
                </a:ln>
                <a:solidFill>
                  <a:srgbClr val="DADADA"/>
                </a:solidFill>
                <a:effectLst/>
              </a:rPr>
              <a:t>(2) suitable supervision, care, or protection for him is not being provided by a parent, guardian, custodian, or other person;</a:t>
            </a:r>
          </a:p>
          <a:p>
            <a:pPr lvl="0">
              <a:buClr>
                <a:srgbClr val="DADADA"/>
              </a:buClr>
            </a:pPr>
            <a:r>
              <a:rPr lang="en-US" sz="1800" dirty="0">
                <a:ln>
                  <a:solidFill>
                    <a:prstClr val="black">
                      <a:lumMod val="75000"/>
                      <a:lumOff val="25000"/>
                      <a:alpha val="10000"/>
                    </a:prstClr>
                  </a:solidFill>
                </a:ln>
                <a:solidFill>
                  <a:srgbClr val="DADADA"/>
                </a:solidFill>
                <a:effectLst/>
              </a:rPr>
              <a:t>(3) he has no parent, guardian, custodian, or other person able to return him to the court when required;</a:t>
            </a:r>
          </a:p>
          <a:p>
            <a:pPr lvl="0">
              <a:buClr>
                <a:srgbClr val="DADADA"/>
              </a:buClr>
            </a:pPr>
            <a:r>
              <a:rPr lang="en-US" sz="1800" dirty="0">
                <a:ln>
                  <a:solidFill>
                    <a:prstClr val="black">
                      <a:lumMod val="75000"/>
                      <a:lumOff val="25000"/>
                      <a:alpha val="10000"/>
                    </a:prstClr>
                  </a:solidFill>
                </a:ln>
                <a:solidFill>
                  <a:srgbClr val="DADADA"/>
                </a:solidFill>
                <a:effectLst/>
              </a:rPr>
              <a:t>(4) he may be dangerous to himself or may threaten the safety of the public if released; or</a:t>
            </a:r>
          </a:p>
          <a:p>
            <a:pPr lvl="0">
              <a:buClr>
                <a:srgbClr val="DADADA"/>
              </a:buClr>
            </a:pPr>
            <a:r>
              <a:rPr lang="en-US" sz="1800" dirty="0">
                <a:ln>
                  <a:solidFill>
                    <a:prstClr val="black">
                      <a:lumMod val="75000"/>
                      <a:lumOff val="25000"/>
                      <a:alpha val="10000"/>
                    </a:prstClr>
                  </a:solidFill>
                </a:ln>
                <a:solidFill>
                  <a:srgbClr val="DADADA"/>
                </a:solidFill>
                <a:effectLst/>
              </a:rPr>
              <a:t>(5) he has previously been found to be a delinquent child or has previously been convicted of a penal offense punishable by a term in jail or prison and is likely to commit an offense if released.</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341008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6" end="6"/>
                                            </p:txEl>
                                          </p:spTgt>
                                        </p:tgtEl>
                                      </p:cBhvr>
                                    </p:animEffect>
                                    <p:animScale>
                                      <p:cBhvr>
                                        <p:cTn id="7" dur="250" autoRev="1" fill="hold"/>
                                        <p:tgtEl>
                                          <p:spTgt spid="3">
                                            <p:txEl>
                                              <p:pRg st="6" end="6"/>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a:bodyPr>
          <a:lstStyle/>
          <a:p>
            <a:pPr lvl="0">
              <a:buClr>
                <a:srgbClr val="DADADA"/>
              </a:buClr>
            </a:pPr>
            <a:r>
              <a:rPr lang="en-US" sz="1800" dirty="0">
                <a:ln>
                  <a:solidFill>
                    <a:prstClr val="black">
                      <a:lumMod val="75000"/>
                      <a:lumOff val="25000"/>
                      <a:alpha val="10000"/>
                    </a:prstClr>
                  </a:solidFill>
                </a:ln>
                <a:solidFill>
                  <a:srgbClr val="DADADA"/>
                </a:solidFill>
                <a:effectLst/>
              </a:rPr>
              <a:t>A detention order extends to the conclusion of the disposition hearing, if there is one, but in no event for more than 10 working days. Further detention orders may be made following subsequent detention hearings. The initial detention hearing may not be waived but subsequent detention hearings may be waived in accordance with the requirements of Section </a:t>
            </a:r>
            <a:r>
              <a:rPr lang="en-US" sz="1800" dirty="0">
                <a:ln>
                  <a:solidFill>
                    <a:prstClr val="black">
                      <a:lumMod val="75000"/>
                      <a:lumOff val="25000"/>
                      <a:alpha val="10000"/>
                    </a:prstClr>
                  </a:solidFill>
                </a:ln>
                <a:solidFill>
                  <a:srgbClr val="DADADA"/>
                </a:solidFill>
                <a:effectLst/>
                <a:hlinkClick r:id="rId2">
                  <a:extLst>
                    <a:ext uri="{A12FA001-AC4F-418D-AE19-62706E023703}">
                      <ahyp:hlinkClr xmlns:ahyp="http://schemas.microsoft.com/office/drawing/2018/hyperlinkcolor" val="tx"/>
                    </a:ext>
                  </a:extLst>
                </a:hlinkClick>
              </a:rPr>
              <a:t>51.09</a:t>
            </a:r>
            <a:r>
              <a:rPr lang="en-US" sz="1800" dirty="0">
                <a:ln>
                  <a:solidFill>
                    <a:prstClr val="black">
                      <a:lumMod val="75000"/>
                      <a:lumOff val="25000"/>
                      <a:alpha val="10000"/>
                    </a:prstClr>
                  </a:solidFill>
                </a:ln>
                <a:solidFill>
                  <a:srgbClr val="DADADA"/>
                </a:solidFill>
                <a:effectLst/>
              </a:rPr>
              <a:t>. Each subsequent detention order shall extend for no more than 10 working days, except that in a county that does not have a certified juvenile detention facility, as described by Section </a:t>
            </a:r>
            <a:r>
              <a:rPr lang="en-US" sz="1800" dirty="0">
                <a:ln>
                  <a:solidFill>
                    <a:prstClr val="black">
                      <a:lumMod val="75000"/>
                      <a:lumOff val="25000"/>
                      <a:alpha val="10000"/>
                    </a:prstClr>
                  </a:solidFill>
                </a:ln>
                <a:solidFill>
                  <a:srgbClr val="DADADA"/>
                </a:solidFill>
                <a:effectLst/>
                <a:hlinkClick r:id="rId3">
                  <a:extLst>
                    <a:ext uri="{A12FA001-AC4F-418D-AE19-62706E023703}">
                      <ahyp:hlinkClr xmlns:ahyp="http://schemas.microsoft.com/office/drawing/2018/hyperlinkcolor" val="tx"/>
                    </a:ext>
                  </a:extLst>
                </a:hlinkClick>
              </a:rPr>
              <a:t>51.12</a:t>
            </a:r>
            <a:r>
              <a:rPr lang="en-US" sz="1800" dirty="0">
                <a:ln>
                  <a:solidFill>
                    <a:prstClr val="black">
                      <a:lumMod val="75000"/>
                      <a:lumOff val="25000"/>
                      <a:alpha val="10000"/>
                    </a:prstClr>
                  </a:solidFill>
                </a:ln>
                <a:solidFill>
                  <a:srgbClr val="DADADA"/>
                </a:solidFill>
                <a:effectLst/>
              </a:rPr>
              <a:t>(a)(3), each subsequent detention order shall extend for no more than 15 working days.</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90593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fontScale="92500" lnSpcReduction="20000"/>
          </a:bodyPr>
          <a:lstStyle/>
          <a:p>
            <a:pPr lvl="0">
              <a:buClr>
                <a:srgbClr val="DADADA"/>
              </a:buClr>
            </a:pPr>
            <a:r>
              <a:rPr lang="en-US" sz="1800" dirty="0">
                <a:ln>
                  <a:solidFill>
                    <a:prstClr val="black">
                      <a:lumMod val="75000"/>
                      <a:lumOff val="25000"/>
                      <a:alpha val="10000"/>
                    </a:prstClr>
                  </a:solidFill>
                </a:ln>
                <a:solidFill>
                  <a:srgbClr val="DADADA"/>
                </a:solidFill>
                <a:effectLst/>
              </a:rPr>
              <a:t>A request for shelter contains:</a:t>
            </a:r>
          </a:p>
          <a:p>
            <a:pPr lvl="0">
              <a:buClr>
                <a:srgbClr val="DADADA"/>
              </a:buClr>
            </a:pPr>
            <a:r>
              <a:rPr lang="en-US" sz="1800" dirty="0">
                <a:ln>
                  <a:solidFill>
                    <a:prstClr val="black">
                      <a:lumMod val="75000"/>
                      <a:lumOff val="25000"/>
                      <a:alpha val="10000"/>
                    </a:prstClr>
                  </a:solidFill>
                </a:ln>
                <a:solidFill>
                  <a:srgbClr val="DADADA"/>
                </a:solidFill>
                <a:effectLst/>
              </a:rPr>
              <a:t>(A) a statement by the child that he voluntarily agrees to submit himself to custody and detention for a period of not longer than 10 days without a detention hearing;</a:t>
            </a:r>
          </a:p>
          <a:p>
            <a:pPr lvl="0">
              <a:buClr>
                <a:srgbClr val="DADADA"/>
              </a:buClr>
            </a:pPr>
            <a:r>
              <a:rPr lang="en-US" sz="1800" dirty="0">
                <a:ln>
                  <a:solidFill>
                    <a:prstClr val="black">
                      <a:lumMod val="75000"/>
                      <a:lumOff val="25000"/>
                      <a:alpha val="10000"/>
                    </a:prstClr>
                  </a:solidFill>
                </a:ln>
                <a:solidFill>
                  <a:srgbClr val="DADADA"/>
                </a:solidFill>
                <a:effectLst/>
              </a:rPr>
              <a:t>(B) an allegation by the person detaining the child that the child has left his place of residence in another state or country or another county of this state, that he is in need of shelter, and that an effort is being made to arrange transportation to his place of residence; and</a:t>
            </a:r>
          </a:p>
          <a:p>
            <a:pPr lvl="0">
              <a:buClr>
                <a:srgbClr val="DADADA"/>
              </a:buClr>
            </a:pPr>
            <a:r>
              <a:rPr lang="en-US" sz="1800" dirty="0">
                <a:ln>
                  <a:solidFill>
                    <a:prstClr val="black">
                      <a:lumMod val="75000"/>
                      <a:lumOff val="25000"/>
                      <a:alpha val="10000"/>
                    </a:prstClr>
                  </a:solidFill>
                </a:ln>
                <a:solidFill>
                  <a:srgbClr val="DADADA"/>
                </a:solidFill>
                <a:effectLst/>
              </a:rPr>
              <a:t>(C) a statement by the person detaining the child that he has advised the child of his right to demand a detention hearing under Subsection (a) of this section; and</a:t>
            </a:r>
          </a:p>
          <a:p>
            <a:pPr lvl="0">
              <a:buClr>
                <a:srgbClr val="DADADA"/>
              </a:buClr>
            </a:pPr>
            <a:r>
              <a:rPr lang="en-US" sz="1800" dirty="0">
                <a:ln>
                  <a:solidFill>
                    <a:prstClr val="black">
                      <a:lumMod val="75000"/>
                      <a:lumOff val="25000"/>
                      <a:alpha val="10000"/>
                    </a:prstClr>
                  </a:solidFill>
                </a:ln>
                <a:solidFill>
                  <a:srgbClr val="DADADA"/>
                </a:solidFill>
                <a:effectLst/>
              </a:rPr>
              <a:t>(3) the request is signed by the juvenile court judge to evidence his knowledge of the fact that the child is being held in detention.</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4259643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5" end="5"/>
                                            </p:txEl>
                                          </p:spTgt>
                                        </p:tgtEl>
                                      </p:cBhvr>
                                    </p:animEffect>
                                    <p:animScale>
                                      <p:cBhvr>
                                        <p:cTn id="7" dur="250" autoRev="1" fill="hold"/>
                                        <p:tgtEl>
                                          <p:spTgt spid="3">
                                            <p:txEl>
                                              <p:pRg st="5" end="5"/>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fontScale="92500" lnSpcReduction="10000"/>
          </a:bodyPr>
          <a:lstStyle/>
          <a:p>
            <a:pPr lvl="0">
              <a:buClr>
                <a:srgbClr val="DADADA"/>
              </a:buClr>
            </a:pPr>
            <a:r>
              <a:rPr lang="en-US" sz="1800" dirty="0">
                <a:ln>
                  <a:solidFill>
                    <a:prstClr val="black">
                      <a:lumMod val="75000"/>
                      <a:lumOff val="25000"/>
                      <a:alpha val="10000"/>
                    </a:prstClr>
                  </a:solidFill>
                </a:ln>
                <a:solidFill>
                  <a:srgbClr val="DADADA"/>
                </a:solidFill>
                <a:effectLst/>
              </a:rPr>
              <a:t>If a child has not been released under Section </a:t>
            </a:r>
            <a:r>
              <a:rPr lang="en-US" sz="1800" dirty="0">
                <a:ln>
                  <a:solidFill>
                    <a:prstClr val="black">
                      <a:lumMod val="75000"/>
                      <a:lumOff val="25000"/>
                      <a:alpha val="10000"/>
                    </a:prstClr>
                  </a:solidFill>
                </a:ln>
                <a:solidFill>
                  <a:srgbClr val="DADADA"/>
                </a:solidFill>
                <a:effectLst/>
                <a:hlinkClick r:id="rId2">
                  <a:extLst>
                    <a:ext uri="{A12FA001-AC4F-418D-AE19-62706E023703}">
                      <ahyp:hlinkClr xmlns:ahyp="http://schemas.microsoft.com/office/drawing/2018/hyperlinkcolor" val="tx"/>
                    </a:ext>
                  </a:extLst>
                </a:hlinkClick>
              </a:rPr>
              <a:t>53.02</a:t>
            </a:r>
            <a:r>
              <a:rPr lang="en-US" sz="1800" dirty="0">
                <a:ln>
                  <a:solidFill>
                    <a:prstClr val="black">
                      <a:lumMod val="75000"/>
                      <a:lumOff val="25000"/>
                      <a:alpha val="10000"/>
                    </a:prstClr>
                  </a:solidFill>
                </a:ln>
                <a:solidFill>
                  <a:srgbClr val="DADADA"/>
                </a:solidFill>
                <a:effectLst/>
              </a:rPr>
              <a:t> or this section and a petition has not been filed under Section </a:t>
            </a:r>
            <a:r>
              <a:rPr lang="en-US" sz="1800" dirty="0">
                <a:ln>
                  <a:solidFill>
                    <a:prstClr val="black">
                      <a:lumMod val="75000"/>
                      <a:lumOff val="25000"/>
                      <a:alpha val="10000"/>
                    </a:prstClr>
                  </a:solidFill>
                </a:ln>
                <a:solidFill>
                  <a:srgbClr val="DADADA"/>
                </a:solidFill>
                <a:effectLst/>
                <a:hlinkClick r:id="rId3">
                  <a:extLst>
                    <a:ext uri="{A12FA001-AC4F-418D-AE19-62706E023703}">
                      <ahyp:hlinkClr xmlns:ahyp="http://schemas.microsoft.com/office/drawing/2018/hyperlinkcolor" val="tx"/>
                    </a:ext>
                  </a:extLst>
                </a:hlinkClick>
              </a:rPr>
              <a:t>53.04</a:t>
            </a:r>
            <a:r>
              <a:rPr lang="en-US" sz="1800" dirty="0">
                <a:ln>
                  <a:solidFill>
                    <a:prstClr val="black">
                      <a:lumMod val="75000"/>
                      <a:lumOff val="25000"/>
                      <a:alpha val="10000"/>
                    </a:prstClr>
                  </a:solidFill>
                </a:ln>
                <a:solidFill>
                  <a:srgbClr val="DADADA"/>
                </a:solidFill>
                <a:effectLst/>
              </a:rPr>
              <a:t> or </a:t>
            </a:r>
            <a:r>
              <a:rPr lang="en-US" sz="1800" dirty="0">
                <a:ln>
                  <a:solidFill>
                    <a:prstClr val="black">
                      <a:lumMod val="75000"/>
                      <a:lumOff val="25000"/>
                      <a:alpha val="10000"/>
                    </a:prstClr>
                  </a:solidFill>
                </a:ln>
                <a:solidFill>
                  <a:srgbClr val="DADADA"/>
                </a:solidFill>
                <a:effectLst/>
                <a:hlinkClick r:id="rId4">
                  <a:extLst>
                    <a:ext uri="{A12FA001-AC4F-418D-AE19-62706E023703}">
                      <ahyp:hlinkClr xmlns:ahyp="http://schemas.microsoft.com/office/drawing/2018/hyperlinkcolor" val="tx"/>
                    </a:ext>
                  </a:extLst>
                </a:hlinkClick>
              </a:rPr>
              <a:t>54.05</a:t>
            </a:r>
            <a:r>
              <a:rPr lang="en-US" sz="1800" dirty="0">
                <a:ln>
                  <a:solidFill>
                    <a:prstClr val="black">
                      <a:lumMod val="75000"/>
                      <a:lumOff val="25000"/>
                      <a:alpha val="10000"/>
                    </a:prstClr>
                  </a:solidFill>
                </a:ln>
                <a:solidFill>
                  <a:srgbClr val="DADADA"/>
                </a:solidFill>
                <a:effectLst/>
              </a:rPr>
              <a:t> concerning the child, the court shall order the child released from detention not later than:</a:t>
            </a:r>
          </a:p>
          <a:p>
            <a:pPr lvl="0">
              <a:buClr>
                <a:srgbClr val="DADADA"/>
              </a:buClr>
            </a:pPr>
            <a:r>
              <a:rPr lang="en-US" sz="1800" dirty="0">
                <a:ln>
                  <a:solidFill>
                    <a:prstClr val="black">
                      <a:lumMod val="75000"/>
                      <a:lumOff val="25000"/>
                      <a:alpha val="10000"/>
                    </a:prstClr>
                  </a:solidFill>
                </a:ln>
                <a:solidFill>
                  <a:srgbClr val="DADADA"/>
                </a:solidFill>
                <a:effectLst/>
              </a:rPr>
              <a:t>(1) the 30th working day after the date the initial detention hearing is held, if the child is alleged to have engaged in conduct constituting a capital felony, an aggravated controlled substance felony, or a felony of the first degree; or</a:t>
            </a:r>
          </a:p>
          <a:p>
            <a:pPr lvl="0">
              <a:buClr>
                <a:srgbClr val="DADADA"/>
              </a:buClr>
            </a:pPr>
            <a:r>
              <a:rPr lang="en-US" sz="1800" dirty="0">
                <a:ln>
                  <a:solidFill>
                    <a:prstClr val="black">
                      <a:lumMod val="75000"/>
                      <a:lumOff val="25000"/>
                      <a:alpha val="10000"/>
                    </a:prstClr>
                  </a:solidFill>
                </a:ln>
                <a:solidFill>
                  <a:srgbClr val="DADADA"/>
                </a:solidFill>
                <a:effectLst/>
              </a:rPr>
              <a:t>(2) the 15th working day after the date the initial detention hearing is held, if the child is alleged to have engaged in conduct constituting an offense other than an offense listed in Subdivision (1) or conduct that violates an order of probation imposed by a juvenile court.</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3290949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fontScale="77500" lnSpcReduction="20000"/>
          </a:bodyPr>
          <a:lstStyle/>
          <a:p>
            <a:pPr lvl="0">
              <a:buClr>
                <a:srgbClr val="DADADA"/>
              </a:buClr>
            </a:pPr>
            <a:r>
              <a:rPr lang="en-US" sz="2400" dirty="0">
                <a:ln>
                  <a:solidFill>
                    <a:prstClr val="black">
                      <a:lumMod val="75000"/>
                      <a:lumOff val="25000"/>
                      <a:alpha val="10000"/>
                    </a:prstClr>
                  </a:solidFill>
                </a:ln>
                <a:solidFill>
                  <a:srgbClr val="DADADA"/>
                </a:solidFill>
                <a:effectLst/>
              </a:rPr>
              <a:t>A law-enforcement officer authorized by this title to take a child into custody may dispose of the case of a child taken into custody or accused of a Class C misdemeanor, other than a traffic offense, without referral to juvenile court or charging a child in a court of competent criminal jurisdiction, if:</a:t>
            </a:r>
          </a:p>
          <a:p>
            <a:pPr lvl="0">
              <a:buClr>
                <a:srgbClr val="DADADA"/>
              </a:buClr>
            </a:pPr>
            <a:r>
              <a:rPr lang="en-US" sz="2400" dirty="0">
                <a:ln>
                  <a:solidFill>
                    <a:prstClr val="black">
                      <a:lumMod val="75000"/>
                      <a:lumOff val="25000"/>
                      <a:alpha val="10000"/>
                    </a:prstClr>
                  </a:solidFill>
                </a:ln>
                <a:solidFill>
                  <a:srgbClr val="DADADA"/>
                </a:solidFill>
                <a:effectLst/>
              </a:rPr>
              <a:t>	(1) guidelines for such disposition have been adopted by the juvenile board of the county in 		which the disposition is made as required by Section </a:t>
            </a:r>
            <a:r>
              <a:rPr lang="en-US" sz="2400" u="sng" dirty="0">
                <a:ln>
                  <a:solidFill>
                    <a:prstClr val="black">
                      <a:lumMod val="75000"/>
                      <a:lumOff val="25000"/>
                      <a:alpha val="10000"/>
                    </a:prstClr>
                  </a:solidFill>
                </a:ln>
                <a:solidFill>
                  <a:srgbClr val="DADADA"/>
                </a:solidFill>
                <a:effectLst/>
                <a:hlinkClick r:id="rId2">
                  <a:extLst>
                    <a:ext uri="{A12FA001-AC4F-418D-AE19-62706E023703}">
                      <ahyp:hlinkClr xmlns:ahyp="http://schemas.microsoft.com/office/drawing/2018/hyperlinkcolor" val="tx"/>
                    </a:ext>
                  </a:extLst>
                </a:hlinkClick>
              </a:rPr>
              <a:t>52.032</a:t>
            </a:r>
            <a:r>
              <a:rPr lang="en-US" sz="2400" dirty="0">
                <a:ln>
                  <a:solidFill>
                    <a:prstClr val="black">
                      <a:lumMod val="75000"/>
                      <a:lumOff val="25000"/>
                      <a:alpha val="10000"/>
                    </a:prstClr>
                  </a:solidFill>
                </a:ln>
                <a:solidFill>
                  <a:srgbClr val="DADADA"/>
                </a:solidFill>
                <a:effectLst/>
              </a:rPr>
              <a:t>;</a:t>
            </a:r>
          </a:p>
          <a:p>
            <a:pPr lvl="0">
              <a:buClr>
                <a:srgbClr val="DADADA"/>
              </a:buClr>
            </a:pPr>
            <a:r>
              <a:rPr lang="en-US" sz="2400" dirty="0">
                <a:ln>
                  <a:solidFill>
                    <a:prstClr val="black">
                      <a:lumMod val="75000"/>
                      <a:lumOff val="25000"/>
                      <a:alpha val="10000"/>
                    </a:prstClr>
                  </a:solidFill>
                </a:ln>
                <a:solidFill>
                  <a:srgbClr val="DADADA"/>
                </a:solidFill>
                <a:effectLst/>
              </a:rPr>
              <a:t>	(2) the disposition is authorized by the guidelines; and</a:t>
            </a:r>
          </a:p>
          <a:p>
            <a:pPr lvl="0">
              <a:buClr>
                <a:srgbClr val="DADADA"/>
              </a:buClr>
            </a:pPr>
            <a:r>
              <a:rPr lang="en-US" sz="2400" dirty="0">
                <a:ln>
                  <a:solidFill>
                    <a:prstClr val="black">
                      <a:lumMod val="75000"/>
                      <a:lumOff val="25000"/>
                      <a:alpha val="10000"/>
                    </a:prstClr>
                  </a:solidFill>
                </a:ln>
                <a:solidFill>
                  <a:srgbClr val="DADADA"/>
                </a:solidFill>
                <a:effectLst/>
              </a:rPr>
              <a:t>	(3) the officer makes a written report of the officer's disposition to the law-enforcement agency, 	identifying the child and specifying the grounds for believing that the taking into 				custody or accusation of criminal conduct was authorized.</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273519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4" end="4"/>
                                            </p:txEl>
                                          </p:spTgt>
                                        </p:tgtEl>
                                      </p:cBhvr>
                                    </p:animEffect>
                                    <p:animScale>
                                      <p:cBhvr>
                                        <p:cTn id="7" dur="250" autoRev="1" fill="hold"/>
                                        <p:tgtEl>
                                          <p:spTgt spid="3">
                                            <p:txEl>
                                              <p:pRg st="4" end="4"/>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fontScale="70000" lnSpcReduction="20000"/>
          </a:bodyPr>
          <a:lstStyle/>
          <a:p>
            <a:r>
              <a:rPr lang="en-US" sz="2400" dirty="0">
                <a:effectLst/>
              </a:rPr>
              <a:t>A juvenile board may establish a first offender program under this section for the referral and disposition of children taken into custody, or accused prior to the filing of a criminal charge, of:</a:t>
            </a:r>
          </a:p>
          <a:p>
            <a:r>
              <a:rPr lang="en-US" sz="2400" dirty="0">
                <a:effectLst/>
              </a:rPr>
              <a:t>	(1)  conduct indicating a need for supervision;</a:t>
            </a:r>
          </a:p>
          <a:p>
            <a:r>
              <a:rPr lang="en-US" sz="2400" dirty="0">
                <a:effectLst/>
              </a:rPr>
              <a:t>	(2)  a Class C misdemeanor; or</a:t>
            </a:r>
          </a:p>
          <a:p>
            <a:r>
              <a:rPr lang="en-US" sz="2400" dirty="0">
                <a:effectLst/>
              </a:rPr>
              <a:t>	(3)  delinquent conduct that constitutes:</a:t>
            </a:r>
          </a:p>
          <a:p>
            <a:r>
              <a:rPr lang="en-US" sz="2400" dirty="0">
                <a:effectLst/>
              </a:rPr>
              <a:t>		(A) a felony of the first, second, or third degree, an aggravated 										controlled substance felony, or a capital felony; or</a:t>
            </a:r>
          </a:p>
          <a:p>
            <a:r>
              <a:rPr lang="en-US" sz="2400" dirty="0">
                <a:effectLst/>
              </a:rPr>
              <a:t>		(B) a state jail felony or misdemeanor involving violence to a person or the use or possession of a 			firearm, location-restricted knife, or club, as those terms are defined by Section </a:t>
            </a:r>
            <a:r>
              <a:rPr lang="en-US" sz="2400" u="sng" dirty="0">
                <a:effectLst/>
                <a:hlinkClick r:id="rId3"/>
              </a:rPr>
              <a:t>46.01</a:t>
            </a:r>
            <a:r>
              <a:rPr lang="en-US" sz="2400" dirty="0">
                <a:effectLst/>
              </a:rPr>
              <a:t>, Penal Code, or 		a prohibited weapon, as described by Section </a:t>
            </a:r>
            <a:r>
              <a:rPr lang="en-US" sz="2400" u="sng" dirty="0">
                <a:effectLst/>
                <a:hlinkClick r:id="rId4"/>
              </a:rPr>
              <a:t>46.05</a:t>
            </a:r>
            <a:r>
              <a:rPr lang="en-US" sz="2400" dirty="0">
                <a:effectLst/>
              </a:rPr>
              <a:t>, Penal Code.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97919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hidden"/>
                                      </p:to>
                                    </p:set>
                                  </p:childTnLst>
                                </p:cTn>
                              </p:par>
                              <p:par>
                                <p:cTn id="7" presetID="26" presetClass="emph" presetSubtype="0" fill="hold" nodeType="withEffect">
                                  <p:stCondLst>
                                    <p:cond delay="0"/>
                                  </p:stCondLst>
                                  <p:childTnLst>
                                    <p:animEffect transition="out" filter="fade">
                                      <p:cBhvr>
                                        <p:cTn id="8" dur="500" tmFilter="0, 0; .2, .5; .8, .5; 1, 0"/>
                                        <p:tgtEl>
                                          <p:spTgt spid="3">
                                            <p:txEl>
                                              <p:pRg st="7" end="7"/>
                                            </p:txEl>
                                          </p:spTgt>
                                        </p:tgtEl>
                                      </p:cBhvr>
                                    </p:animEffect>
                                    <p:animScale>
                                      <p:cBhvr>
                                        <p:cTn id="9" dur="250" autoRev="1" fill="hold"/>
                                        <p:tgtEl>
                                          <p:spTgt spid="3">
                                            <p:txEl>
                                              <p:pRg st="7" end="7"/>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lnSpcReduction="10000"/>
          </a:bodyPr>
          <a:lstStyle/>
          <a:p>
            <a:pPr lvl="0">
              <a:buClr>
                <a:srgbClr val="DADADA"/>
              </a:buClr>
            </a:pPr>
            <a:r>
              <a:rPr lang="en-US" sz="2400" dirty="0">
                <a:ln>
                  <a:solidFill>
                    <a:prstClr val="black">
                      <a:lumMod val="75000"/>
                      <a:lumOff val="25000"/>
                      <a:alpha val="10000"/>
                    </a:prstClr>
                  </a:solidFill>
                </a:ln>
                <a:solidFill>
                  <a:srgbClr val="DADADA"/>
                </a:solidFill>
                <a:effectLst/>
              </a:rPr>
              <a:t>A law enforcement officer taking a child into custody or accusing a child of an offense described in Subsection (a)(2) may refer the child to the law enforcement officer or agency designated under Subsection (b) for disposition under the first offender program and not refer the child to juvenile court or a court of competent criminal jurisdiction only if the child has not previously been adjudicated as having engaged in delinquent conduct.</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339097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fontScale="77500" lnSpcReduction="20000"/>
          </a:bodyPr>
          <a:lstStyle/>
          <a:p>
            <a:r>
              <a:rPr lang="en-US" sz="2400" dirty="0">
                <a:effectLst/>
              </a:rPr>
              <a:t>The parent, guardian, or other custodian of the child must receive notice that the child has been referred for disposition under the first offender program.  The notice must:</a:t>
            </a:r>
          </a:p>
          <a:p>
            <a:r>
              <a:rPr lang="en-US" sz="2400" dirty="0">
                <a:effectLst/>
              </a:rPr>
              <a:t>	(1)  state the grounds for taking the child into custody or accusing a child of an offense 		described in Subsection (a-1)</a:t>
            </a:r>
          </a:p>
          <a:p>
            <a:r>
              <a:rPr lang="en-US" sz="2400" dirty="0">
                <a:effectLst/>
              </a:rPr>
              <a:t>	(2)  identify the law enforcement officer or agency to which the child was referred;</a:t>
            </a:r>
          </a:p>
          <a:p>
            <a:r>
              <a:rPr lang="en-US" sz="2400" dirty="0">
                <a:effectLst/>
              </a:rPr>
              <a:t>	(3)  briefly describe the nature of the program; and</a:t>
            </a:r>
          </a:p>
          <a:p>
            <a:r>
              <a:rPr lang="en-US" sz="2400" dirty="0">
                <a:effectLst/>
              </a:rPr>
              <a:t>	(4)  state that the child's failure to complete the program will result in the child being referred 	to the juvenile court for the conduct or a complaint being filed with a criminal court for the 	offense.</a:t>
            </a:r>
            <a:endParaRPr lang="en-US" sz="2400" dirty="0"/>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1002569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5" end="5"/>
                                            </p:txEl>
                                          </p:spTgt>
                                        </p:tgtEl>
                                      </p:cBhvr>
                                    </p:animEffect>
                                    <p:animScale>
                                      <p:cBhvr>
                                        <p:cTn id="7" dur="250" autoRev="1" fill="hold"/>
                                        <p:tgtEl>
                                          <p:spTgt spid="3">
                                            <p:txEl>
                                              <p:pRg st="5" end="5"/>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fontScale="70000" lnSpcReduction="20000"/>
          </a:bodyPr>
          <a:lstStyle/>
          <a:p>
            <a:r>
              <a:rPr lang="en-US" sz="2400" dirty="0">
                <a:effectLst/>
              </a:rPr>
              <a:t>The following shall accompany referral of a child or a child's case to the office or official designated by the juvenile board or be provided as quickly as possible after referral:</a:t>
            </a:r>
          </a:p>
          <a:p>
            <a:r>
              <a:rPr lang="en-US" sz="2400" dirty="0">
                <a:effectLst/>
              </a:rPr>
              <a:t>	(1)  all information in the possession of the person or agency making the referral pertaining to the identity 	of the child and the child's address, the name and address of the child's parent, guardian, or custodian, the 	names and addresses of any witnesses, and the child's present whereabouts;</a:t>
            </a:r>
          </a:p>
          <a:p>
            <a:r>
              <a:rPr lang="en-US" sz="2400" dirty="0">
                <a:effectLst/>
              </a:rPr>
              <a:t>	(2)  a complete statement of the circumstances of the alleged delinquent conduct or conduct indicating a need for supervision;</a:t>
            </a:r>
          </a:p>
          <a:p>
            <a:r>
              <a:rPr lang="en-US" sz="2400" dirty="0">
                <a:effectLst/>
              </a:rPr>
              <a:t>	(3)  when applicable, a complete statement of the circumstances of taking the child into custody;  and</a:t>
            </a:r>
          </a:p>
          <a:p>
            <a:r>
              <a:rPr lang="en-US" sz="2400" dirty="0">
                <a:effectLst/>
              </a:rPr>
              <a:t>	(4)  when referral is by an officer of a law-enforcement agency, a complete statement of all prior contacts 	with the child by officers of that law-enforcement agency.</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213555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5" end="5"/>
                                            </p:txEl>
                                          </p:spTgt>
                                        </p:tgtEl>
                                      </p:cBhvr>
                                    </p:animEffect>
                                    <p:animScale>
                                      <p:cBhvr>
                                        <p:cTn id="7" dur="250" autoRev="1" fill="hold"/>
                                        <p:tgtEl>
                                          <p:spTgt spid="3">
                                            <p:txEl>
                                              <p:pRg st="5" end="5"/>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fontScale="92500" lnSpcReduction="20000"/>
          </a:bodyPr>
          <a:lstStyle/>
          <a:p>
            <a:r>
              <a:rPr lang="en-US" sz="2400" dirty="0">
                <a:effectLst/>
              </a:rPr>
              <a:t>A parent of a child has the following rights and duties:</a:t>
            </a:r>
          </a:p>
          <a:p>
            <a:r>
              <a:rPr lang="en-US" sz="2400" dirty="0">
                <a:effectLst/>
              </a:rPr>
              <a:t>	(1) the right to have physical possession, to direct the moral and religious training, 	and to designate the residence of the child;</a:t>
            </a:r>
          </a:p>
          <a:p>
            <a:r>
              <a:rPr lang="en-US" sz="2400" dirty="0">
                <a:effectLst/>
              </a:rPr>
              <a:t>	(2) the duty of care, control, protection, and reasonable 					discipline of the child;</a:t>
            </a:r>
          </a:p>
          <a:p>
            <a:r>
              <a:rPr lang="en-US" sz="2400" dirty="0">
                <a:effectLst/>
              </a:rPr>
              <a:t>	(3) the duty to support the child, including providing the child with 		clothing, food, shelter, medical and dental care, and education;</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endParaRPr lang="en-US" sz="2400" dirty="0">
              <a:effectLst/>
            </a:endParaRP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251333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4" end="4"/>
                                            </p:txEl>
                                          </p:spTgt>
                                        </p:tgtEl>
                                      </p:cBhvr>
                                    </p:animEffect>
                                    <p:animScale>
                                      <p:cBhvr>
                                        <p:cTn id="7" dur="250" autoRev="1" fill="hold"/>
                                        <p:tgtEl>
                                          <p:spTgt spid="3">
                                            <p:txEl>
                                              <p:pRg st="4" end="4"/>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DC6F-97D5-88EE-A148-4AC742A7B314}"/>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1A90F6D8-AFA9-3655-DC56-3C85A30A72AE}"/>
              </a:ext>
            </a:extLst>
          </p:cNvPr>
          <p:cNvSpPr>
            <a:spLocks noGrp="1"/>
          </p:cNvSpPr>
          <p:nvPr>
            <p:ph idx="1"/>
          </p:nvPr>
        </p:nvSpPr>
        <p:spPr/>
        <p:txBody>
          <a:bodyPr>
            <a:normAutofit fontScale="85000" lnSpcReduction="20000"/>
          </a:bodyPr>
          <a:lstStyle/>
          <a:p>
            <a:r>
              <a:rPr lang="en-US" sz="2400" dirty="0">
                <a:effectLst/>
              </a:rPr>
              <a:t>Unless limited by court order, a parent appointed as a conservator of a child has the following rights and duties during the period that the parent has possession of the child:</a:t>
            </a:r>
          </a:p>
          <a:p>
            <a:r>
              <a:rPr lang="en-US" sz="2400" dirty="0">
                <a:effectLst/>
              </a:rPr>
              <a:t>	(1) the duty of care, control, protection, and reasonable discipline of the child;</a:t>
            </a:r>
          </a:p>
          <a:p>
            <a:r>
              <a:rPr lang="en-US" sz="2400" dirty="0">
                <a:effectLst/>
              </a:rPr>
              <a:t>	(2) the duty to support the child, including providing the child with clothing, food, shelter, 	and medical and dental care involving any medical procedure;</a:t>
            </a:r>
          </a:p>
          <a:p>
            <a:r>
              <a:rPr lang="en-US" sz="2400" dirty="0">
                <a:effectLst/>
              </a:rPr>
              <a:t>	(3) the right to consent for the child to medical and dental care involving any medical 	procedure;  and</a:t>
            </a:r>
          </a:p>
          <a:p>
            <a:r>
              <a:rPr lang="en-US" sz="2400" dirty="0">
                <a:effectLst/>
              </a:rPr>
              <a:t>	(4)	the right to direct the moral and religious training of the child.</a:t>
            </a:r>
            <a:endParaRPr lang="en-US" sz="2400" dirty="0"/>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True</a:t>
            </a:r>
          </a:p>
          <a:p>
            <a:pPr marL="36900" lvl="0" indent="0" algn="ctr">
              <a:buClr>
                <a:srgbClr val="DADADA"/>
              </a:buClr>
              <a:buNone/>
            </a:pPr>
            <a:r>
              <a:rPr lang="en-US" sz="4000" dirty="0">
                <a:ln>
                  <a:solidFill>
                    <a:prstClr val="black">
                      <a:lumMod val="75000"/>
                      <a:lumOff val="25000"/>
                      <a:alpha val="10000"/>
                    </a:prstClr>
                  </a:solidFill>
                </a:ln>
                <a:solidFill>
                  <a:srgbClr val="DADADA"/>
                </a:solidFill>
                <a:effectLst/>
              </a:rPr>
              <a:t>False</a:t>
            </a:r>
          </a:p>
          <a:p>
            <a:endParaRPr lang="en-US" sz="2400" dirty="0">
              <a:effectLst/>
            </a:endParaRPr>
          </a:p>
          <a:p>
            <a:pPr marL="36900" indent="0">
              <a:buNone/>
            </a:pPr>
            <a:endParaRPr lang="en-US" dirty="0">
              <a:effectLst/>
            </a:endParaRPr>
          </a:p>
          <a:p>
            <a:pPr marL="36900" indent="0">
              <a:buNone/>
            </a:pPr>
            <a:endParaRPr lang="en-US" dirty="0">
              <a:effectLst/>
            </a:endParaRPr>
          </a:p>
          <a:p>
            <a:pPr marL="36900" indent="0">
              <a:buNone/>
            </a:pPr>
            <a:endParaRPr lang="en-US" dirty="0"/>
          </a:p>
        </p:txBody>
      </p:sp>
    </p:spTree>
    <p:extLst>
      <p:ext uri="{BB962C8B-B14F-4D97-AF65-F5344CB8AC3E}">
        <p14:creationId xmlns:p14="http://schemas.microsoft.com/office/powerpoint/2010/main" val="189188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hidden"/>
                                      </p:to>
                                    </p:set>
                                  </p:childTnLst>
                                </p:cTn>
                              </p:par>
                              <p:par>
                                <p:cTn id="7" presetID="26" presetClass="emph" presetSubtype="0" fill="hold" nodeType="withEffect">
                                  <p:stCondLst>
                                    <p:cond delay="0"/>
                                  </p:stCondLst>
                                  <p:childTnLst>
                                    <p:animEffect transition="out" filter="fade">
                                      <p:cBhvr>
                                        <p:cTn id="8" dur="500" tmFilter="0, 0; .2, .5; .8, .5; 1, 0"/>
                                        <p:tgtEl>
                                          <p:spTgt spid="3">
                                            <p:txEl>
                                              <p:pRg st="6" end="6"/>
                                            </p:txEl>
                                          </p:spTgt>
                                        </p:tgtEl>
                                      </p:cBhvr>
                                    </p:animEffect>
                                    <p:animScale>
                                      <p:cBhvr>
                                        <p:cTn id="9" dur="250" autoRev="1" fill="hold"/>
                                        <p:tgtEl>
                                          <p:spTgt spid="3">
                                            <p:txEl>
                                              <p:pRg st="6" end="6"/>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9C39-43E3-41E3-82B0-4135AC9CB91E}"/>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4835861C-2A64-4C85-97CB-1B811C05C337}"/>
              </a:ext>
            </a:extLst>
          </p:cNvPr>
          <p:cNvSpPr>
            <a:spLocks noGrp="1"/>
          </p:cNvSpPr>
          <p:nvPr>
            <p:ph idx="1"/>
          </p:nvPr>
        </p:nvSpPr>
        <p:spPr/>
        <p:txBody>
          <a:bodyPr>
            <a:normAutofit fontScale="77500" lnSpcReduction="20000"/>
          </a:bodyPr>
          <a:lstStyle/>
          <a:p>
            <a:r>
              <a:rPr lang="en-US" dirty="0">
                <a:effectLst/>
              </a:rPr>
              <a:t>"Abuse" includes which of the following acts or omissions by a person (select all that apply):</a:t>
            </a:r>
          </a:p>
          <a:p>
            <a:r>
              <a:rPr lang="en-US" dirty="0">
                <a:effectLst/>
              </a:rPr>
              <a:t>(A) mental or emotional injury to a child that a person believes results in stunting the child's growth, development, or psychological functioning;</a:t>
            </a:r>
          </a:p>
          <a:p>
            <a:r>
              <a:rPr lang="en-US" dirty="0">
                <a:effectLst/>
              </a:rPr>
              <a:t>(B) causing or permitting the child to be in a situation in which the child sustains a mental or emotional injury that results in an observable and material impairment in the child's growth, development, or psychological functioning;</a:t>
            </a:r>
          </a:p>
          <a:p>
            <a:r>
              <a:rPr lang="en-US" dirty="0">
                <a:effectLst/>
              </a:rPr>
              <a:t>(C) physical injury that results in substantial harm to the child, or the genuine threat of substantial harm from physical injury to the child, including an injury that is at variance with the history or explanation given and excluding an accident or reasonable discipline by a parent, guardian, or managing or possessory conservator that does not expose the child to a substantial risk of harm;</a:t>
            </a:r>
          </a:p>
          <a:p>
            <a:r>
              <a:rPr lang="en-US" dirty="0">
                <a:effectLst/>
              </a:rPr>
              <a:t>(D) failure to make a every effort to prevent an action by another person that results in physical injury that results in substantial harm to the child;</a:t>
            </a:r>
          </a:p>
          <a:p>
            <a:r>
              <a:rPr lang="en-US" dirty="0">
                <a:effectLst/>
              </a:rPr>
              <a:t>(E) any sexual conduct, including conduct that constitutes the offense of continuous sexual abuse of young child or children under Section </a:t>
            </a:r>
            <a:r>
              <a:rPr lang="en-US" dirty="0">
                <a:effectLst/>
                <a:hlinkClick r:id="rId3"/>
              </a:rPr>
              <a:t>21.02</a:t>
            </a:r>
            <a:r>
              <a:rPr lang="en-US" dirty="0">
                <a:effectLst/>
              </a:rPr>
              <a:t>, Penal Code, indecency with a child under Section </a:t>
            </a:r>
            <a:r>
              <a:rPr lang="en-US" dirty="0">
                <a:effectLst/>
                <a:hlinkClick r:id="rId4"/>
              </a:rPr>
              <a:t>21.11</a:t>
            </a:r>
            <a:r>
              <a:rPr lang="en-US" dirty="0">
                <a:effectLst/>
              </a:rPr>
              <a:t>, Penal Code, sexual assault under Section </a:t>
            </a:r>
            <a:r>
              <a:rPr lang="en-US" dirty="0">
                <a:effectLst/>
                <a:hlinkClick r:id="rId5"/>
              </a:rPr>
              <a:t>22.011</a:t>
            </a:r>
            <a:r>
              <a:rPr lang="en-US" dirty="0">
                <a:effectLst/>
              </a:rPr>
              <a:t>, Penal Code, or aggravated sexual assault under Section </a:t>
            </a:r>
            <a:r>
              <a:rPr lang="en-US" dirty="0">
                <a:effectLst/>
                <a:hlinkClick r:id="rId6"/>
              </a:rPr>
              <a:t>22.021</a:t>
            </a:r>
            <a:r>
              <a:rPr lang="en-US" dirty="0">
                <a:effectLst/>
              </a:rPr>
              <a:t>, Penal Code;</a:t>
            </a:r>
          </a:p>
          <a:p>
            <a:endParaRPr lang="en-US" dirty="0"/>
          </a:p>
        </p:txBody>
      </p:sp>
    </p:spTree>
    <p:extLst>
      <p:ext uri="{BB962C8B-B14F-4D97-AF65-F5344CB8AC3E}">
        <p14:creationId xmlns:p14="http://schemas.microsoft.com/office/powerpoint/2010/main" val="55566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xEl>
                                              <p:pRg st="3" end="3"/>
                                            </p:txEl>
                                          </p:spTgt>
                                        </p:tgtEl>
                                      </p:cBhvr>
                                    </p:animEffect>
                                    <p:animScale>
                                      <p:cBhvr>
                                        <p:cTn id="10" dur="250" autoRev="1" fill="hold"/>
                                        <p:tgtEl>
                                          <p:spTgt spid="3">
                                            <p:txEl>
                                              <p:pRg st="3" end="3"/>
                                            </p:txEl>
                                          </p:spTgt>
                                        </p:tgtEl>
                                      </p:cBhvr>
                                      <p:by x="105000" y="105000"/>
                                    </p:animScale>
                                  </p:childTnLst>
                                </p:cTn>
                              </p:par>
                              <p:par>
                                <p:cTn id="11" presetID="1" presetClass="exit"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hidden"/>
                                      </p:to>
                                    </p:set>
                                  </p:childTnLst>
                                </p:cTn>
                              </p:par>
                              <p:par>
                                <p:cTn id="15" presetID="26" presetClass="emph" presetSubtype="0" fill="hold" nodeType="withEffect">
                                  <p:stCondLst>
                                    <p:cond delay="0"/>
                                  </p:stCondLst>
                                  <p:childTnLst>
                                    <p:animEffect transition="out" filter="fade">
                                      <p:cBhvr>
                                        <p:cTn id="16" dur="500" tmFilter="0, 0; .2, .5; .8, .5; 1, 0"/>
                                        <p:tgtEl>
                                          <p:spTgt spid="3">
                                            <p:txEl>
                                              <p:pRg st="4" end="4"/>
                                            </p:txEl>
                                          </p:spTgt>
                                        </p:tgtEl>
                                      </p:cBhvr>
                                    </p:animEffect>
                                    <p:animScale>
                                      <p:cBhvr>
                                        <p:cTn id="17" dur="250" autoRev="1" fill="hold"/>
                                        <p:tgtEl>
                                          <p:spTgt spid="3">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9C39-43E3-41E3-82B0-4135AC9CB91E}"/>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4835861C-2A64-4C85-97CB-1B811C05C337}"/>
              </a:ext>
            </a:extLst>
          </p:cNvPr>
          <p:cNvSpPr>
            <a:spLocks noGrp="1"/>
          </p:cNvSpPr>
          <p:nvPr>
            <p:ph idx="1"/>
          </p:nvPr>
        </p:nvSpPr>
        <p:spPr/>
        <p:txBody>
          <a:bodyPr>
            <a:normAutofit/>
          </a:bodyPr>
          <a:lstStyle/>
          <a:p>
            <a:r>
              <a:rPr lang="en-US" dirty="0">
                <a:effectLst/>
              </a:rPr>
              <a:t>"Neglect“ includes the leaving of a child in a situation where the child would be exposed to a substantial risk of physical or mental harm, without arranging for necessary care for the child, and the demonstration of an intent not to return by a parent, guardian, or managing or possessory conservator of the child.</a:t>
            </a:r>
          </a:p>
          <a:p>
            <a:pPr marL="36900" indent="0" algn="ctr">
              <a:buNone/>
            </a:pPr>
            <a:r>
              <a:rPr lang="en-US" sz="3600" dirty="0">
                <a:effectLst/>
              </a:rPr>
              <a:t>True</a:t>
            </a:r>
          </a:p>
          <a:p>
            <a:pPr marL="36900" indent="0" algn="ctr">
              <a:buNone/>
            </a:pPr>
            <a:r>
              <a:rPr lang="en-US" sz="3600" dirty="0">
                <a:effectLst/>
              </a:rPr>
              <a:t>False</a:t>
            </a:r>
          </a:p>
        </p:txBody>
      </p:sp>
    </p:spTree>
    <p:extLst>
      <p:ext uri="{BB962C8B-B14F-4D97-AF65-F5344CB8AC3E}">
        <p14:creationId xmlns:p14="http://schemas.microsoft.com/office/powerpoint/2010/main" val="293362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9C39-43E3-41E3-82B0-4135AC9CB91E}"/>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4835861C-2A64-4C85-97CB-1B811C05C337}"/>
              </a:ext>
            </a:extLst>
          </p:cNvPr>
          <p:cNvSpPr>
            <a:spLocks noGrp="1"/>
          </p:cNvSpPr>
          <p:nvPr>
            <p:ph idx="1"/>
          </p:nvPr>
        </p:nvSpPr>
        <p:spPr/>
        <p:txBody>
          <a:bodyPr>
            <a:normAutofit/>
          </a:bodyPr>
          <a:lstStyle/>
          <a:p>
            <a:r>
              <a:rPr lang="en-US" dirty="0">
                <a:effectLst/>
              </a:rPr>
              <a:t>A person having cause to believe that a child's physical or mental health or welfare has been adversely affected by abuse or neglect by any person shall immediately make a report as provided by this subchapter.</a:t>
            </a:r>
          </a:p>
          <a:p>
            <a:pPr marL="36900" indent="0" algn="ctr">
              <a:buNone/>
            </a:pPr>
            <a:r>
              <a:rPr lang="en-US" sz="3600" dirty="0">
                <a:effectLst/>
              </a:rPr>
              <a:t>True</a:t>
            </a:r>
          </a:p>
          <a:p>
            <a:pPr marL="36900" indent="0" algn="ctr">
              <a:buNone/>
            </a:pPr>
            <a:r>
              <a:rPr lang="en-US" sz="3600" dirty="0">
                <a:effectLst/>
              </a:rPr>
              <a:t>False</a:t>
            </a:r>
          </a:p>
        </p:txBody>
      </p:sp>
    </p:spTree>
    <p:extLst>
      <p:ext uri="{BB962C8B-B14F-4D97-AF65-F5344CB8AC3E}">
        <p14:creationId xmlns:p14="http://schemas.microsoft.com/office/powerpoint/2010/main" val="46666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9C39-43E3-41E3-82B0-4135AC9CB91E}"/>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4835861C-2A64-4C85-97CB-1B811C05C337}"/>
              </a:ext>
            </a:extLst>
          </p:cNvPr>
          <p:cNvSpPr>
            <a:spLocks noGrp="1"/>
          </p:cNvSpPr>
          <p:nvPr>
            <p:ph idx="1"/>
          </p:nvPr>
        </p:nvSpPr>
        <p:spPr/>
        <p:txBody>
          <a:bodyPr>
            <a:normAutofit/>
          </a:bodyPr>
          <a:lstStyle/>
          <a:p>
            <a:r>
              <a:rPr lang="en-US" dirty="0">
                <a:effectLst/>
              </a:rPr>
              <a:t>Unless waived in writing by the person making the report, the identity of an individual making a report under this chapter is confidential and may be disclosed only:</a:t>
            </a:r>
          </a:p>
          <a:p>
            <a:r>
              <a:rPr lang="en-US" dirty="0">
                <a:effectLst/>
              </a:rPr>
              <a:t>(1) as provided by Section </a:t>
            </a:r>
            <a:r>
              <a:rPr lang="en-US" dirty="0">
                <a:effectLst/>
                <a:hlinkClick r:id="rId3"/>
              </a:rPr>
              <a:t>261.201</a:t>
            </a:r>
            <a:r>
              <a:rPr lang="en-US" dirty="0">
                <a:effectLst/>
              </a:rPr>
              <a:t>; or</a:t>
            </a:r>
          </a:p>
          <a:p>
            <a:r>
              <a:rPr lang="en-US" dirty="0">
                <a:effectLst/>
              </a:rPr>
              <a:t>(2) to a law enforcement officer for the purposes of conducting a criminal investigation of the report.</a:t>
            </a:r>
          </a:p>
          <a:p>
            <a:pPr marL="36900" indent="0" algn="ctr">
              <a:buNone/>
            </a:pPr>
            <a:r>
              <a:rPr lang="en-US" sz="3600" dirty="0">
                <a:effectLst/>
              </a:rPr>
              <a:t>True</a:t>
            </a:r>
          </a:p>
          <a:p>
            <a:pPr marL="36900" indent="0" algn="ctr">
              <a:buNone/>
            </a:pPr>
            <a:r>
              <a:rPr lang="en-US" sz="3600" dirty="0">
                <a:effectLst/>
              </a:rPr>
              <a:t>False</a:t>
            </a:r>
          </a:p>
        </p:txBody>
      </p:sp>
    </p:spTree>
    <p:extLst>
      <p:ext uri="{BB962C8B-B14F-4D97-AF65-F5344CB8AC3E}">
        <p14:creationId xmlns:p14="http://schemas.microsoft.com/office/powerpoint/2010/main" val="4061696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9C39-43E3-41E3-82B0-4135AC9CB91E}"/>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4835861C-2A64-4C85-97CB-1B811C05C337}"/>
              </a:ext>
            </a:extLst>
          </p:cNvPr>
          <p:cNvSpPr>
            <a:spLocks noGrp="1"/>
          </p:cNvSpPr>
          <p:nvPr>
            <p:ph idx="1"/>
          </p:nvPr>
        </p:nvSpPr>
        <p:spPr/>
        <p:txBody>
          <a:bodyPr>
            <a:normAutofit/>
          </a:bodyPr>
          <a:lstStyle/>
          <a:p>
            <a:r>
              <a:rPr lang="en-US" dirty="0">
                <a:effectLst/>
              </a:rPr>
              <a:t>A person commits an offense if, with the intent to deceive, the person knowingly makes a report as provided in this chapter that is false.  An offense under this subsection is a ________________ unless it is shown on the trial of the offense that the person has previously been convicted under this section, in which case the offense is a _____________.</a:t>
            </a:r>
          </a:p>
          <a:p>
            <a:pPr marL="494100" indent="-457200">
              <a:buFont typeface="+mj-lt"/>
              <a:buAutoNum type="alphaUcPeriod"/>
            </a:pPr>
            <a:r>
              <a:rPr lang="en-US" dirty="0">
                <a:effectLst/>
              </a:rPr>
              <a:t>state jail felony; state jail felony</a:t>
            </a:r>
          </a:p>
          <a:p>
            <a:pPr marL="494100" indent="-457200">
              <a:buFont typeface="+mj-lt"/>
              <a:buAutoNum type="alphaUcPeriod"/>
            </a:pPr>
            <a:r>
              <a:rPr lang="en-US" dirty="0">
                <a:effectLst/>
              </a:rPr>
              <a:t>class A misdemeanor; state jail felony</a:t>
            </a:r>
          </a:p>
          <a:p>
            <a:pPr marL="494100" indent="-457200">
              <a:buFont typeface="+mj-lt"/>
              <a:buAutoNum type="alphaUcPeriod"/>
            </a:pPr>
            <a:r>
              <a:rPr lang="en-US" dirty="0">
                <a:effectLst/>
              </a:rPr>
              <a:t>state jail felony; felony of the third degree</a:t>
            </a:r>
          </a:p>
          <a:p>
            <a:pPr marL="494100" indent="-457200">
              <a:buFont typeface="+mj-lt"/>
              <a:buAutoNum type="alphaUcPeriod"/>
            </a:pPr>
            <a:r>
              <a:rPr lang="en-US" dirty="0">
                <a:effectLst/>
              </a:rPr>
              <a:t>felony of the third degree; felony of the second degree</a:t>
            </a:r>
          </a:p>
        </p:txBody>
      </p:sp>
    </p:spTree>
    <p:extLst>
      <p:ext uri="{BB962C8B-B14F-4D97-AF65-F5344CB8AC3E}">
        <p14:creationId xmlns:p14="http://schemas.microsoft.com/office/powerpoint/2010/main" val="1715595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9C39-43E3-41E3-82B0-4135AC9CB91E}"/>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4835861C-2A64-4C85-97CB-1B811C05C337}"/>
              </a:ext>
            </a:extLst>
          </p:cNvPr>
          <p:cNvSpPr>
            <a:spLocks noGrp="1"/>
          </p:cNvSpPr>
          <p:nvPr>
            <p:ph idx="1"/>
          </p:nvPr>
        </p:nvSpPr>
        <p:spPr/>
        <p:txBody>
          <a:bodyPr>
            <a:normAutofit fontScale="92500" lnSpcReduction="10000"/>
          </a:bodyPr>
          <a:lstStyle/>
          <a:p>
            <a:r>
              <a:rPr lang="en-US" dirty="0">
                <a:effectLst/>
              </a:rPr>
              <a:t>(a) A person commits an offense if the person is required to make a report under Section </a:t>
            </a:r>
            <a:r>
              <a:rPr lang="en-US" dirty="0">
                <a:effectLst/>
                <a:hlinkClick r:id="rId3"/>
              </a:rPr>
              <a:t>261.101</a:t>
            </a:r>
            <a:r>
              <a:rPr lang="en-US" dirty="0">
                <a:effectLst/>
              </a:rPr>
              <a:t>(a) and knowingly fails to make a report as provided in this chapter.</a:t>
            </a:r>
          </a:p>
          <a:p>
            <a:r>
              <a:rPr lang="en-US" dirty="0">
                <a:effectLst/>
              </a:rPr>
              <a:t>(b) An offense under Subsection (a) is a ______________, except that the offense is a _______________ if it is shown on the trial of the offense that the child was a person with an intellectual disability who resided in a state supported living center, the ICF-IID component of the Rio Grande State Center, or a facility licensed under Chapter </a:t>
            </a:r>
            <a:r>
              <a:rPr lang="en-US" dirty="0">
                <a:effectLst/>
                <a:hlinkClick r:id="rId4"/>
              </a:rPr>
              <a:t>252</a:t>
            </a:r>
            <a:r>
              <a:rPr lang="en-US" dirty="0">
                <a:effectLst/>
              </a:rPr>
              <a:t>, Health and Safety Code, and the actor knew that the child had suffered serious bodily injury as a result of the abuse or neglect.</a:t>
            </a:r>
          </a:p>
          <a:p>
            <a:pPr marL="494100" indent="-457200">
              <a:buFont typeface="+mj-lt"/>
              <a:buAutoNum type="alphaUcPeriod"/>
            </a:pPr>
            <a:r>
              <a:rPr lang="en-US" dirty="0">
                <a:effectLst/>
              </a:rPr>
              <a:t>state jail felony; state jail felony</a:t>
            </a:r>
          </a:p>
          <a:p>
            <a:pPr marL="494100" indent="-457200">
              <a:buFont typeface="+mj-lt"/>
              <a:buAutoNum type="alphaUcPeriod"/>
            </a:pPr>
            <a:r>
              <a:rPr lang="en-US" dirty="0">
                <a:effectLst/>
              </a:rPr>
              <a:t>class A misdemeanor; state jail felony</a:t>
            </a:r>
          </a:p>
          <a:p>
            <a:pPr marL="494100" indent="-457200">
              <a:buFont typeface="+mj-lt"/>
              <a:buAutoNum type="alphaUcPeriod"/>
            </a:pPr>
            <a:r>
              <a:rPr lang="en-US" dirty="0">
                <a:effectLst/>
              </a:rPr>
              <a:t>state jail felony; felony of the third degree</a:t>
            </a:r>
          </a:p>
          <a:p>
            <a:pPr marL="494100" indent="-457200">
              <a:buFont typeface="+mj-lt"/>
              <a:buAutoNum type="alphaUcPeriod"/>
            </a:pPr>
            <a:r>
              <a:rPr lang="en-US" dirty="0">
                <a:effectLst/>
              </a:rPr>
              <a:t>felony of the third degree; felony of the second degree</a:t>
            </a:r>
          </a:p>
        </p:txBody>
      </p:sp>
    </p:spTree>
    <p:extLst>
      <p:ext uri="{BB962C8B-B14F-4D97-AF65-F5344CB8AC3E}">
        <p14:creationId xmlns:p14="http://schemas.microsoft.com/office/powerpoint/2010/main" val="630717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hidden"/>
                                      </p:to>
                                    </p:set>
                                  </p:childTnLst>
                                </p:cTn>
                              </p:par>
                              <p:par>
                                <p:cTn id="9" presetID="26" presetClass="emph" presetSubtype="0" fill="hold" nodeType="withEffect">
                                  <p:stCondLst>
                                    <p:cond delay="0"/>
                                  </p:stCondLst>
                                  <p:childTnLst>
                                    <p:animEffect transition="out" filter="fade">
                                      <p:cBhvr>
                                        <p:cTn id="10" dur="500" tmFilter="0, 0; .2, .5; .8, .5; 1, 0"/>
                                        <p:tgtEl>
                                          <p:spTgt spid="3">
                                            <p:txEl>
                                              <p:pRg st="3" end="3"/>
                                            </p:txEl>
                                          </p:spTgt>
                                        </p:tgtEl>
                                      </p:cBhvr>
                                    </p:animEffect>
                                    <p:animScale>
                                      <p:cBhvr>
                                        <p:cTn id="11" dur="250" autoRev="1" fill="hold"/>
                                        <p:tgtEl>
                                          <p:spTgt spid="3">
                                            <p:txEl>
                                              <p:pRg st="3" end="3"/>
                                            </p:txEl>
                                          </p:spTgt>
                                        </p:tgtEl>
                                      </p:cBhvr>
                                      <p:by x="105000" y="105000"/>
                                    </p:animScale>
                                  </p:childTnLst>
                                </p:cTn>
                              </p:par>
                              <p:par>
                                <p:cTn id="12" presetID="1" presetClass="exit" presetSubtype="0" fill="hold" nodeType="withEffect">
                                  <p:stCondLst>
                                    <p:cond delay="0"/>
                                  </p:stCondLst>
                                  <p:childTnLst>
                                    <p:set>
                                      <p:cBhvr>
                                        <p:cTn id="13"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9C39-43E3-41E3-82B0-4135AC9CB91E}"/>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4835861C-2A64-4C85-97CB-1B811C05C337}"/>
              </a:ext>
            </a:extLst>
          </p:cNvPr>
          <p:cNvSpPr>
            <a:spLocks noGrp="1"/>
          </p:cNvSpPr>
          <p:nvPr>
            <p:ph idx="1"/>
          </p:nvPr>
        </p:nvSpPr>
        <p:spPr/>
        <p:txBody>
          <a:bodyPr>
            <a:normAutofit/>
          </a:bodyPr>
          <a:lstStyle/>
          <a:p>
            <a:r>
              <a:rPr lang="en-US" dirty="0">
                <a:effectLst/>
              </a:rPr>
              <a:t>(a-1) A person who is a professional as defined by Section </a:t>
            </a:r>
            <a:r>
              <a:rPr lang="en-US" dirty="0">
                <a:effectLst/>
                <a:hlinkClick r:id="rId3"/>
              </a:rPr>
              <a:t>261.101</a:t>
            </a:r>
            <a:r>
              <a:rPr lang="en-US" dirty="0">
                <a:effectLst/>
              </a:rPr>
              <a:t>(b) commits an offense if the person is required to make a report under Section </a:t>
            </a:r>
            <a:r>
              <a:rPr lang="en-US" dirty="0">
                <a:effectLst/>
                <a:hlinkClick r:id="rId3"/>
              </a:rPr>
              <a:t>261.101</a:t>
            </a:r>
            <a:r>
              <a:rPr lang="en-US" dirty="0">
                <a:effectLst/>
              </a:rPr>
              <a:t>(b) and knowingly fails to make a report as provided in this chapter.</a:t>
            </a:r>
          </a:p>
          <a:p>
            <a:r>
              <a:rPr lang="en-US" dirty="0">
                <a:effectLst/>
              </a:rPr>
              <a:t>(c) An offense under Subsection (a-1) is a ____________, except that the offense is a ______________ if it is shown on the trial of the offense that the actor intended to conceal the abuse or neglect.</a:t>
            </a:r>
          </a:p>
          <a:p>
            <a:pPr marL="494100" indent="-457200">
              <a:buFont typeface="+mj-lt"/>
              <a:buAutoNum type="alphaUcPeriod"/>
            </a:pPr>
            <a:r>
              <a:rPr lang="en-US" dirty="0">
                <a:effectLst/>
              </a:rPr>
              <a:t>state jail felony; state jail felony</a:t>
            </a:r>
          </a:p>
          <a:p>
            <a:pPr marL="494100" indent="-457200">
              <a:buFont typeface="+mj-lt"/>
              <a:buAutoNum type="alphaUcPeriod"/>
            </a:pPr>
            <a:r>
              <a:rPr lang="en-US" dirty="0">
                <a:effectLst/>
              </a:rPr>
              <a:t>class A misdemeanor; state jail felony</a:t>
            </a:r>
          </a:p>
          <a:p>
            <a:pPr marL="494100" indent="-457200">
              <a:buFont typeface="+mj-lt"/>
              <a:buAutoNum type="alphaUcPeriod"/>
            </a:pPr>
            <a:r>
              <a:rPr lang="en-US" dirty="0">
                <a:effectLst/>
              </a:rPr>
              <a:t>state jail felony; felony of the third degree</a:t>
            </a:r>
          </a:p>
          <a:p>
            <a:pPr marL="494100" indent="-457200">
              <a:buFont typeface="+mj-lt"/>
              <a:buAutoNum type="alphaUcPeriod"/>
            </a:pPr>
            <a:r>
              <a:rPr lang="en-US" dirty="0">
                <a:effectLst/>
              </a:rPr>
              <a:t>felony of the third degree; felony of the second degree</a:t>
            </a:r>
          </a:p>
          <a:p>
            <a:endParaRPr lang="en-US" dirty="0">
              <a:effectLst/>
            </a:endParaRPr>
          </a:p>
          <a:p>
            <a:endParaRPr lang="en-US" dirty="0">
              <a:effectLst/>
            </a:endParaRPr>
          </a:p>
        </p:txBody>
      </p:sp>
    </p:spTree>
    <p:extLst>
      <p:ext uri="{BB962C8B-B14F-4D97-AF65-F5344CB8AC3E}">
        <p14:creationId xmlns:p14="http://schemas.microsoft.com/office/powerpoint/2010/main" val="385292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9C39-43E3-41E3-82B0-4135AC9CB91E}"/>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4835861C-2A64-4C85-97CB-1B811C05C337}"/>
              </a:ext>
            </a:extLst>
          </p:cNvPr>
          <p:cNvSpPr>
            <a:spLocks noGrp="1"/>
          </p:cNvSpPr>
          <p:nvPr>
            <p:ph idx="1"/>
          </p:nvPr>
        </p:nvSpPr>
        <p:spPr/>
        <p:txBody>
          <a:bodyPr>
            <a:normAutofit/>
          </a:bodyPr>
          <a:lstStyle/>
          <a:p>
            <a:r>
              <a:rPr lang="en-US" dirty="0">
                <a:effectLst/>
              </a:rPr>
              <a:t>A person commits an offense if the person is notified of the time of the transport of a child by the department and the location from which the transport is initiated and the person is present at the location when the transport is initiated and attempts to interfere with the department's investigation.  An offense under this subsection is a _______________.  It is an exception to the application of this subsection that the department requested the person to be present at the site of the transport.</a:t>
            </a:r>
          </a:p>
          <a:p>
            <a:pPr marL="494100" indent="-457200">
              <a:buFont typeface="+mj-lt"/>
              <a:buAutoNum type="alphaUcPeriod"/>
            </a:pPr>
            <a:r>
              <a:rPr lang="en-US" dirty="0">
                <a:effectLst/>
              </a:rPr>
              <a:t>state jail felony</a:t>
            </a:r>
          </a:p>
          <a:p>
            <a:pPr marL="494100" indent="-457200">
              <a:buFont typeface="+mj-lt"/>
              <a:buAutoNum type="alphaUcPeriod"/>
            </a:pPr>
            <a:r>
              <a:rPr lang="en-US" dirty="0">
                <a:effectLst/>
              </a:rPr>
              <a:t>class A misdemeanor</a:t>
            </a:r>
          </a:p>
          <a:p>
            <a:pPr marL="494100" indent="-457200">
              <a:buFont typeface="+mj-lt"/>
              <a:buAutoNum type="alphaUcPeriod"/>
            </a:pPr>
            <a:r>
              <a:rPr lang="en-US" dirty="0">
                <a:effectLst/>
              </a:rPr>
              <a:t>class B misdemeanor </a:t>
            </a:r>
          </a:p>
          <a:p>
            <a:pPr marL="494100" indent="-457200">
              <a:buFont typeface="+mj-lt"/>
              <a:buAutoNum type="alphaUcPeriod"/>
            </a:pPr>
            <a:r>
              <a:rPr lang="en-US" dirty="0">
                <a:effectLst/>
              </a:rPr>
              <a:t>class C misdemeanor</a:t>
            </a:r>
          </a:p>
          <a:p>
            <a:endParaRPr lang="en-US" dirty="0">
              <a:effectLst/>
            </a:endParaRPr>
          </a:p>
        </p:txBody>
      </p:sp>
    </p:spTree>
    <p:extLst>
      <p:ext uri="{BB962C8B-B14F-4D97-AF65-F5344CB8AC3E}">
        <p14:creationId xmlns:p14="http://schemas.microsoft.com/office/powerpoint/2010/main" val="428485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9C39-43E3-41E3-82B0-4135AC9CB91E}"/>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4835861C-2A64-4C85-97CB-1B811C05C337}"/>
              </a:ext>
            </a:extLst>
          </p:cNvPr>
          <p:cNvSpPr>
            <a:spLocks noGrp="1"/>
          </p:cNvSpPr>
          <p:nvPr>
            <p:ph idx="1"/>
          </p:nvPr>
        </p:nvSpPr>
        <p:spPr/>
        <p:txBody>
          <a:bodyPr>
            <a:normAutofit/>
          </a:bodyPr>
          <a:lstStyle/>
          <a:p>
            <a:r>
              <a:rPr lang="en-US" dirty="0">
                <a:effectLst/>
              </a:rPr>
              <a:t>A person commits an offense if, with the intent to interfere with the department's investigation of a report of abuse or neglect of a child, the person relocates the person's residence, either temporarily or permanently, without notifying the department of the address of the person's new residence or conceals the child and the person's relocation or concealment interferes with the department's investigation. An offense under this section is a ___________.</a:t>
            </a:r>
          </a:p>
          <a:p>
            <a:pPr marL="494100" indent="-457200">
              <a:buFont typeface="+mj-lt"/>
              <a:buAutoNum type="alphaUcPeriod"/>
            </a:pPr>
            <a:r>
              <a:rPr lang="en-US" dirty="0">
                <a:effectLst/>
              </a:rPr>
              <a:t>state jail felony</a:t>
            </a:r>
          </a:p>
          <a:p>
            <a:pPr marL="494100" indent="-457200">
              <a:buFont typeface="+mj-lt"/>
              <a:buAutoNum type="alphaUcPeriod"/>
            </a:pPr>
            <a:r>
              <a:rPr lang="en-US" dirty="0">
                <a:effectLst/>
              </a:rPr>
              <a:t>class A misdemeanor</a:t>
            </a:r>
          </a:p>
          <a:p>
            <a:pPr marL="494100" indent="-457200">
              <a:buFont typeface="+mj-lt"/>
              <a:buAutoNum type="alphaUcPeriod"/>
            </a:pPr>
            <a:r>
              <a:rPr lang="en-US" dirty="0">
                <a:effectLst/>
              </a:rPr>
              <a:t>class B misdemeanor </a:t>
            </a:r>
          </a:p>
          <a:p>
            <a:pPr marL="494100" indent="-457200">
              <a:buFont typeface="+mj-lt"/>
              <a:buAutoNum type="alphaUcPeriod"/>
            </a:pPr>
            <a:r>
              <a:rPr lang="en-US" dirty="0">
                <a:effectLst/>
              </a:rPr>
              <a:t>class C misdemeanor</a:t>
            </a:r>
          </a:p>
          <a:p>
            <a:endParaRPr lang="en-US" dirty="0">
              <a:effectLst/>
            </a:endParaRPr>
          </a:p>
        </p:txBody>
      </p:sp>
    </p:spTree>
    <p:extLst>
      <p:ext uri="{BB962C8B-B14F-4D97-AF65-F5344CB8AC3E}">
        <p14:creationId xmlns:p14="http://schemas.microsoft.com/office/powerpoint/2010/main" val="2068531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lstStyle/>
          <a:p>
            <a:pPr marL="36900" indent="0">
              <a:buNone/>
            </a:pPr>
            <a:r>
              <a:rPr lang="en-US" sz="2400" dirty="0">
                <a:ln>
                  <a:solidFill>
                    <a:prstClr val="black">
                      <a:lumMod val="75000"/>
                      <a:lumOff val="25000"/>
                      <a:alpha val="10000"/>
                    </a:prstClr>
                  </a:solidFill>
                </a:ln>
                <a:solidFill>
                  <a:srgbClr val="DADADA"/>
                </a:solidFill>
                <a:effectLst/>
              </a:rPr>
              <a:t>A peace officer may consent to medical, dental, psychological, and surgical treatment of a child when the person having the right to consent as otherwise provided by law cannot be contacted and that person has not given actual notice to the contrary and </a:t>
            </a:r>
            <a:r>
              <a:rPr lang="en-US" sz="2400" dirty="0">
                <a:effectLst/>
              </a:rPr>
              <a:t>if the child is in custody and the peace officer has reasonable grounds to believe the minor is in need of immediate medical treatment.</a:t>
            </a:r>
          </a:p>
          <a:p>
            <a:pPr marL="36900" indent="0" algn="ctr">
              <a:buNone/>
            </a:pPr>
            <a:r>
              <a:rPr lang="en-US" sz="4000" dirty="0">
                <a:effectLst/>
              </a:rPr>
              <a:t>True</a:t>
            </a:r>
          </a:p>
          <a:p>
            <a:pPr marL="36900" indent="0" algn="ctr">
              <a:buNone/>
            </a:pPr>
            <a:r>
              <a:rPr lang="en-US" sz="4000" dirty="0">
                <a:effectLst/>
              </a:rPr>
              <a:t>False</a:t>
            </a:r>
          </a:p>
          <a:p>
            <a:endParaRPr lang="en-US" dirty="0"/>
          </a:p>
        </p:txBody>
      </p:sp>
    </p:spTree>
    <p:extLst>
      <p:ext uri="{BB962C8B-B14F-4D97-AF65-F5344CB8AC3E}">
        <p14:creationId xmlns:p14="http://schemas.microsoft.com/office/powerpoint/2010/main" val="39105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lstStyle/>
          <a:p>
            <a:pPr marL="36900" indent="0">
              <a:buNone/>
            </a:pPr>
            <a:r>
              <a:rPr lang="en-US" sz="2400" dirty="0">
                <a:effectLst/>
              </a:rPr>
              <a:t>Except as provided by Subsection (c), a physician, dentist, or psychologist having reasonable grounds to believe that a child's physical or mental condition has been adversely affected by abuse or neglect may examine the child without the consent of the child, the child's parents, or other person authorized to consent to treatment under this subchapter.</a:t>
            </a:r>
          </a:p>
          <a:p>
            <a:pPr marL="36900" indent="0">
              <a:buNone/>
            </a:pPr>
            <a:endParaRPr lang="en-US" dirty="0">
              <a:effectLst/>
            </a:endParaRPr>
          </a:p>
          <a:p>
            <a:pPr marL="36900" indent="0" algn="ctr">
              <a:buNone/>
            </a:pPr>
            <a:r>
              <a:rPr lang="en-US" sz="4000" dirty="0">
                <a:effectLst/>
              </a:rPr>
              <a:t>True</a:t>
            </a:r>
          </a:p>
          <a:p>
            <a:pPr marL="36900" indent="0" algn="ctr">
              <a:buNone/>
            </a:pPr>
            <a:r>
              <a:rPr lang="en-US" sz="4000" dirty="0">
                <a:effectLst/>
              </a:rPr>
              <a:t>False</a:t>
            </a:r>
          </a:p>
          <a:p>
            <a:endParaRPr lang="en-US" dirty="0"/>
          </a:p>
        </p:txBody>
      </p:sp>
    </p:spTree>
    <p:extLst>
      <p:ext uri="{BB962C8B-B14F-4D97-AF65-F5344CB8AC3E}">
        <p14:creationId xmlns:p14="http://schemas.microsoft.com/office/powerpoint/2010/main" val="201988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lstStyle/>
          <a:p>
            <a:pPr marL="36900" indent="0" algn="ctr">
              <a:buNone/>
            </a:pPr>
            <a:r>
              <a:rPr lang="en-US" sz="2400" dirty="0">
                <a:effectLst/>
              </a:rPr>
              <a:t>A person who takes possession of a child without a court order is immune from civil liability if, at the time possession is taken, there is reasonable cause to believe there is an immediate danger to the physical health or safety of the child.</a:t>
            </a:r>
          </a:p>
          <a:p>
            <a:pPr marL="36900" indent="0">
              <a:buNone/>
            </a:pPr>
            <a:endParaRPr lang="en-US" dirty="0">
              <a:effectLst/>
            </a:endParaRPr>
          </a:p>
          <a:p>
            <a:pPr marL="36900" indent="0" algn="ctr">
              <a:buNone/>
            </a:pPr>
            <a:r>
              <a:rPr lang="en-US" sz="4000" dirty="0">
                <a:effectLst/>
              </a:rPr>
              <a:t>True</a:t>
            </a:r>
          </a:p>
          <a:p>
            <a:pPr marL="36900" indent="0" algn="ctr">
              <a:buNone/>
            </a:pPr>
            <a:r>
              <a:rPr lang="en-US" sz="4000" dirty="0">
                <a:effectLst/>
              </a:rPr>
              <a:t>False</a:t>
            </a:r>
          </a:p>
          <a:p>
            <a:endParaRPr lang="en-US" dirty="0"/>
          </a:p>
        </p:txBody>
      </p:sp>
    </p:spTree>
    <p:extLst>
      <p:ext uri="{BB962C8B-B14F-4D97-AF65-F5344CB8AC3E}">
        <p14:creationId xmlns:p14="http://schemas.microsoft.com/office/powerpoint/2010/main" val="231657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lstStyle/>
          <a:p>
            <a:pPr marL="36900" indent="0" algn="ctr">
              <a:buNone/>
            </a:pPr>
            <a:r>
              <a:rPr lang="en-US" sz="2400" dirty="0">
                <a:effectLst/>
              </a:rPr>
              <a:t>A law enforcement officer or a juvenile probation officer may take possession of a child without a court order on the voluntary delivery of the child by the parent, managing conservator, possessory conservator, guardian, caretaker, or custodian who is presently entitled to possession of the child.</a:t>
            </a:r>
          </a:p>
          <a:p>
            <a:pPr marL="36900" indent="0">
              <a:buNone/>
            </a:pPr>
            <a:endParaRPr lang="en-US" dirty="0">
              <a:effectLst/>
            </a:endParaRPr>
          </a:p>
          <a:p>
            <a:pPr marL="36900" indent="0" algn="ctr">
              <a:buNone/>
            </a:pPr>
            <a:r>
              <a:rPr lang="en-US" sz="4000" dirty="0">
                <a:effectLst/>
              </a:rPr>
              <a:t>True</a:t>
            </a:r>
          </a:p>
          <a:p>
            <a:pPr marL="36900" indent="0" algn="ctr">
              <a:buNone/>
            </a:pPr>
            <a:r>
              <a:rPr lang="en-US" sz="4000" dirty="0">
                <a:effectLst/>
              </a:rPr>
              <a:t>False</a:t>
            </a:r>
          </a:p>
          <a:p>
            <a:endParaRPr lang="en-US" dirty="0"/>
          </a:p>
        </p:txBody>
      </p:sp>
    </p:spTree>
    <p:extLst>
      <p:ext uri="{BB962C8B-B14F-4D97-AF65-F5344CB8AC3E}">
        <p14:creationId xmlns:p14="http://schemas.microsoft.com/office/powerpoint/2010/main" val="166926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normAutofit/>
          </a:bodyPr>
          <a:lstStyle/>
          <a:p>
            <a:pPr marL="36900" indent="0">
              <a:buNone/>
            </a:pPr>
            <a:r>
              <a:rPr lang="en-US" sz="2400" dirty="0">
                <a:effectLst/>
              </a:rPr>
              <a:t>A law enforcement officer who, during a criminal investigation relating to a child's custody, discovers that a child is a missing child and believes that a person may flee with or conceal the child shall take possession of the child and shall deliver or arrange for the delivery of the child to a person entitled to possession of the child.</a:t>
            </a:r>
          </a:p>
          <a:p>
            <a:pPr marL="36900" indent="0">
              <a:buNone/>
            </a:pPr>
            <a:endParaRPr lang="en-US" dirty="0">
              <a:effectLst/>
            </a:endParaRPr>
          </a:p>
          <a:p>
            <a:pPr marL="36900" indent="0" algn="ctr">
              <a:buNone/>
            </a:pPr>
            <a:r>
              <a:rPr lang="en-US" sz="4000" dirty="0">
                <a:effectLst/>
              </a:rPr>
              <a:t>True</a:t>
            </a:r>
          </a:p>
          <a:p>
            <a:pPr marL="36900" indent="0" algn="ctr">
              <a:buNone/>
            </a:pPr>
            <a:r>
              <a:rPr lang="en-US" sz="4000" dirty="0">
                <a:effectLst/>
              </a:rPr>
              <a:t>False</a:t>
            </a:r>
          </a:p>
          <a:p>
            <a:endParaRPr lang="en-US" dirty="0"/>
          </a:p>
        </p:txBody>
      </p:sp>
    </p:spTree>
    <p:extLst>
      <p:ext uri="{BB962C8B-B14F-4D97-AF65-F5344CB8AC3E}">
        <p14:creationId xmlns:p14="http://schemas.microsoft.com/office/powerpoint/2010/main" val="248673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normAutofit/>
          </a:bodyPr>
          <a:lstStyle/>
          <a:p>
            <a:pPr marL="36900" indent="0">
              <a:buNone/>
            </a:pPr>
            <a:r>
              <a:rPr lang="en-US" sz="2400" dirty="0">
                <a:effectLst/>
              </a:rPr>
              <a:t>If a person entitled to possession of the child is not immediately available to take possession of the child, the law enforcement officer shall deliver the child to:</a:t>
            </a:r>
          </a:p>
          <a:p>
            <a:pPr marL="494100" indent="-457200">
              <a:buFont typeface="+mj-lt"/>
              <a:buAutoNum type="alphaUcPeriod"/>
            </a:pPr>
            <a:r>
              <a:rPr lang="en-US" dirty="0">
                <a:effectLst/>
              </a:rPr>
              <a:t>the Juvenile Detention Center in the county in which the child has been located</a:t>
            </a:r>
          </a:p>
          <a:p>
            <a:pPr marL="494100" indent="-457200">
              <a:buFont typeface="+mj-lt"/>
              <a:buAutoNum type="alphaUcPeriod"/>
            </a:pPr>
            <a:r>
              <a:rPr lang="en-US" dirty="0">
                <a:effectLst/>
              </a:rPr>
              <a:t>the nearest foster home</a:t>
            </a:r>
          </a:p>
          <a:p>
            <a:pPr marL="494100" indent="-457200">
              <a:buFont typeface="+mj-lt"/>
              <a:buAutoNum type="alphaUcPeriod"/>
            </a:pPr>
            <a:r>
              <a:rPr lang="en-US" dirty="0">
                <a:effectLst/>
              </a:rPr>
              <a:t>the Department of Protective and Regulatory services</a:t>
            </a:r>
          </a:p>
          <a:p>
            <a:pPr marL="494100" indent="-457200">
              <a:buFont typeface="+mj-lt"/>
              <a:buAutoNum type="alphaUcPeriod"/>
            </a:pPr>
            <a:r>
              <a:rPr lang="en-US" dirty="0">
                <a:effectLst/>
              </a:rPr>
              <a:t>a state/county funded hospital or medical care services provider</a:t>
            </a:r>
          </a:p>
          <a:p>
            <a:endParaRPr lang="en-US" dirty="0"/>
          </a:p>
        </p:txBody>
      </p:sp>
    </p:spTree>
    <p:extLst>
      <p:ext uri="{BB962C8B-B14F-4D97-AF65-F5344CB8AC3E}">
        <p14:creationId xmlns:p14="http://schemas.microsoft.com/office/powerpoint/2010/main" val="375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normAutofit fontScale="85000" lnSpcReduction="20000"/>
          </a:bodyPr>
          <a:lstStyle/>
          <a:p>
            <a:pPr marL="36900" indent="0">
              <a:buNone/>
            </a:pPr>
            <a:r>
              <a:rPr lang="en-US" sz="2400" dirty="0">
                <a:effectLst/>
              </a:rPr>
              <a:t>If there is no time to obtain a temporary order, temporary restraining order, or attachment under Section </a:t>
            </a:r>
            <a:r>
              <a:rPr lang="en-US" sz="2400" dirty="0">
                <a:effectLst/>
                <a:hlinkClick r:id="rId2"/>
              </a:rPr>
              <a:t>262.102</a:t>
            </a:r>
            <a:r>
              <a:rPr lang="en-US" sz="2400" dirty="0">
                <a:effectLst/>
              </a:rPr>
              <a:t>(a) before taking possession of a child consistent with the health and safety of that child, an authorized representative of the Department of Family and Protective Services, a law enforcement officer, or a juvenile probation officer may take possession of a child without a court order under the following conditions, only (select all that apply):</a:t>
            </a:r>
          </a:p>
          <a:p>
            <a:pPr marL="494100" indent="-457200">
              <a:buFont typeface="+mj-lt"/>
              <a:buAutoNum type="alphaUcPeriod"/>
            </a:pPr>
            <a:r>
              <a:rPr lang="en-US" sz="2400" dirty="0">
                <a:effectLst/>
              </a:rPr>
              <a:t>on personal knowledge of facts that would lead a person of ordinary prudence and caution to believe that there is an immediate danger to the physical health or safety of the child;</a:t>
            </a:r>
          </a:p>
          <a:p>
            <a:pPr marL="494100" indent="-457200">
              <a:buFont typeface="+mj-lt"/>
              <a:buAutoNum type="alphaUcPeriod"/>
            </a:pPr>
            <a:r>
              <a:rPr lang="en-US" sz="2400" dirty="0">
                <a:effectLst/>
              </a:rPr>
              <a:t>on the report from a licensed social worker of suspected abuse or neglect;</a:t>
            </a:r>
          </a:p>
          <a:p>
            <a:pPr marL="494100" indent="-457200">
              <a:buFont typeface="+mj-lt"/>
              <a:buAutoNum type="alphaUcPeriod"/>
            </a:pPr>
            <a:r>
              <a:rPr lang="en-US" sz="2400" dirty="0">
                <a:effectLst/>
              </a:rPr>
              <a:t>on information furnished by another that has been corroborated by personal knowledge of facts and all of which taken together would lead a person of ordinary prudence and caution to believe that there is an immediate danger to the physical health or safety of the child;</a:t>
            </a:r>
          </a:p>
          <a:p>
            <a:pPr marL="494100" indent="-457200">
              <a:buFont typeface="+mj-lt"/>
              <a:buAutoNum type="alphaUcPeriod"/>
            </a:pPr>
            <a:r>
              <a:rPr lang="en-US" sz="2400" dirty="0">
                <a:effectLst/>
              </a:rPr>
              <a:t>on the status of the child in possession of a family member</a:t>
            </a:r>
          </a:p>
        </p:txBody>
      </p:sp>
    </p:spTree>
    <p:extLst>
      <p:ext uri="{BB962C8B-B14F-4D97-AF65-F5344CB8AC3E}">
        <p14:creationId xmlns:p14="http://schemas.microsoft.com/office/powerpoint/2010/main" val="174483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xEl>
                                              <p:pRg st="1" end="1"/>
                                            </p:txEl>
                                          </p:spTgt>
                                        </p:tgtEl>
                                      </p:cBhvr>
                                    </p:animEffect>
                                    <p:animScale>
                                      <p:cBhvr>
                                        <p:cTn id="10" dur="250" autoRev="1" fill="hold"/>
                                        <p:tgtEl>
                                          <p:spTgt spid="3">
                                            <p:txEl>
                                              <p:pRg st="1" end="1"/>
                                            </p:txEl>
                                          </p:spTgt>
                                        </p:tgtEl>
                                      </p:cBhvr>
                                      <p:by x="105000" y="105000"/>
                                    </p:animScale>
                                  </p:childTnLst>
                                </p:cTn>
                              </p:par>
                              <p:par>
                                <p:cTn id="11" presetID="1" presetClass="exit"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normAutofit/>
          </a:bodyPr>
          <a:lstStyle/>
          <a:p>
            <a:pPr marL="36900" indent="0">
              <a:buNone/>
            </a:pPr>
            <a:r>
              <a:rPr lang="en-US" sz="2400" dirty="0">
                <a:effectLst/>
              </a:rPr>
              <a:t>When a child is taken into possession under this chapter, that child may be held in isolation or in a jail, juvenile detention facility, or other secure detention facility.</a:t>
            </a:r>
          </a:p>
          <a:p>
            <a:pPr marL="36900" indent="0">
              <a:buNone/>
            </a:pPr>
            <a:endParaRPr lang="en-US" dirty="0">
              <a:effectLst/>
            </a:endParaRPr>
          </a:p>
          <a:p>
            <a:pPr marL="36900" indent="0" algn="ctr">
              <a:buNone/>
            </a:pPr>
            <a:r>
              <a:rPr lang="en-US" sz="4000" dirty="0">
                <a:effectLst/>
              </a:rPr>
              <a:t>True</a:t>
            </a:r>
          </a:p>
          <a:p>
            <a:pPr marL="36900" indent="0" algn="ctr">
              <a:buNone/>
            </a:pPr>
            <a:r>
              <a:rPr lang="en-US" sz="4000" dirty="0">
                <a:effectLst/>
              </a:rPr>
              <a:t>False</a:t>
            </a:r>
          </a:p>
          <a:p>
            <a:endParaRPr lang="en-US" dirty="0"/>
          </a:p>
        </p:txBody>
      </p:sp>
    </p:spTree>
    <p:extLst>
      <p:ext uri="{BB962C8B-B14F-4D97-AF65-F5344CB8AC3E}">
        <p14:creationId xmlns:p14="http://schemas.microsoft.com/office/powerpoint/2010/main" val="4087832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hidden"/>
                                      </p:to>
                                    </p:set>
                                  </p:childTnLst>
                                </p:cTn>
                              </p:par>
                              <p:par>
                                <p:cTn id="7" presetID="26" presetClass="emph" presetSubtype="0" fill="hold" nodeType="withEffect">
                                  <p:stCondLst>
                                    <p:cond delay="0"/>
                                  </p:stCondLst>
                                  <p:childTnLst>
                                    <p:animEffect transition="out" filter="fade">
                                      <p:cBhvr>
                                        <p:cTn id="8" dur="500" tmFilter="0, 0; .2, .5; .8, .5; 1, 0"/>
                                        <p:tgtEl>
                                          <p:spTgt spid="3">
                                            <p:txEl>
                                              <p:pRg st="3" end="3"/>
                                            </p:txEl>
                                          </p:spTgt>
                                        </p:tgtEl>
                                      </p:cBhvr>
                                    </p:animEffect>
                                    <p:animScale>
                                      <p:cBhvr>
                                        <p:cTn id="9" dur="250" autoRev="1" fill="hold"/>
                                        <p:tgtEl>
                                          <p:spTgt spid="3">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normAutofit/>
          </a:bodyPr>
          <a:lstStyle/>
          <a:p>
            <a:pPr marL="36900" indent="0">
              <a:buNone/>
            </a:pPr>
            <a:r>
              <a:rPr lang="en-US" sz="2400" dirty="0">
                <a:effectLst/>
              </a:rPr>
              <a:t>A person who receives information under this article may not disclose the information except as specifically authorized by this article. A person who intentionally violates this article commits an offense. An offense under this subsection is a __________.</a:t>
            </a:r>
          </a:p>
          <a:p>
            <a:pPr marL="494100" indent="-457200">
              <a:buFont typeface="+mj-lt"/>
              <a:buAutoNum type="alphaUcPeriod"/>
            </a:pPr>
            <a:r>
              <a:rPr lang="en-US" dirty="0"/>
              <a:t>Class C Misdemeanor</a:t>
            </a:r>
          </a:p>
          <a:p>
            <a:pPr marL="494100" indent="-457200">
              <a:buFont typeface="+mj-lt"/>
              <a:buAutoNum type="alphaUcPeriod"/>
            </a:pPr>
            <a:r>
              <a:rPr lang="en-US" dirty="0"/>
              <a:t>Class B Misdemeanor</a:t>
            </a:r>
          </a:p>
          <a:p>
            <a:pPr marL="494100" indent="-457200">
              <a:buFont typeface="+mj-lt"/>
              <a:buAutoNum type="alphaUcPeriod"/>
            </a:pPr>
            <a:r>
              <a:rPr lang="en-US" dirty="0"/>
              <a:t>Class A Misdemeanor</a:t>
            </a:r>
          </a:p>
          <a:p>
            <a:pPr marL="494100" indent="-457200">
              <a:buFont typeface="+mj-lt"/>
              <a:buAutoNum type="alphaUcPeriod"/>
            </a:pPr>
            <a:r>
              <a:rPr lang="en-US" dirty="0"/>
              <a:t>State Jail Felony</a:t>
            </a:r>
          </a:p>
        </p:txBody>
      </p:sp>
    </p:spTree>
    <p:extLst>
      <p:ext uri="{BB962C8B-B14F-4D97-AF65-F5344CB8AC3E}">
        <p14:creationId xmlns:p14="http://schemas.microsoft.com/office/powerpoint/2010/main" val="78857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normAutofit/>
          </a:bodyPr>
          <a:lstStyle/>
          <a:p>
            <a:pPr marL="36900" indent="0">
              <a:buNone/>
            </a:pPr>
            <a:r>
              <a:rPr lang="en-US" sz="2400" dirty="0">
                <a:effectLst/>
              </a:rPr>
              <a:t>Oral or written notice required under this article must include all pertinent details of the offense or conduct including details of any (select all that apply):</a:t>
            </a:r>
          </a:p>
          <a:p>
            <a:pPr marL="494100" indent="-457200">
              <a:buFont typeface="+mj-lt"/>
              <a:buAutoNum type="alphaUcPeriod"/>
            </a:pPr>
            <a:r>
              <a:rPr lang="en-US" sz="2400" dirty="0">
                <a:effectLst/>
              </a:rPr>
              <a:t>assaultive behavior or other violence;</a:t>
            </a:r>
          </a:p>
          <a:p>
            <a:pPr marL="494100" indent="-457200">
              <a:buFont typeface="+mj-lt"/>
              <a:buAutoNum type="alphaUcPeriod"/>
            </a:pPr>
            <a:r>
              <a:rPr lang="en-US" sz="2400" dirty="0">
                <a:effectLst/>
              </a:rPr>
              <a:t>involvement of any students as accomplices;</a:t>
            </a:r>
          </a:p>
          <a:p>
            <a:pPr marL="494100" indent="-457200">
              <a:buFont typeface="+mj-lt"/>
              <a:buAutoNum type="alphaUcPeriod"/>
            </a:pPr>
            <a:r>
              <a:rPr lang="en-US" sz="2400" dirty="0">
                <a:effectLst/>
              </a:rPr>
              <a:t>weapons used in the commission of the offense or conduct;</a:t>
            </a:r>
          </a:p>
          <a:p>
            <a:pPr marL="494100" indent="-457200">
              <a:buFont typeface="+mj-lt"/>
              <a:buAutoNum type="alphaUcPeriod"/>
            </a:pPr>
            <a:r>
              <a:rPr lang="en-US" sz="2400" dirty="0">
                <a:effectLst/>
              </a:rPr>
              <a:t>weapons possessed during the commission of the offense or conduct;</a:t>
            </a:r>
          </a:p>
        </p:txBody>
      </p:sp>
    </p:spTree>
    <p:extLst>
      <p:ext uri="{BB962C8B-B14F-4D97-AF65-F5344CB8AC3E}">
        <p14:creationId xmlns:p14="http://schemas.microsoft.com/office/powerpoint/2010/main" val="3091971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hidden"/>
                                      </p:to>
                                    </p:set>
                                  </p:childTnLst>
                                </p:cTn>
                              </p:par>
                              <p:par>
                                <p:cTn id="7" presetID="26" presetClass="emph" presetSubtype="0" fill="hold" nodeType="withEffect">
                                  <p:stCondLst>
                                    <p:cond delay="0"/>
                                  </p:stCondLst>
                                  <p:childTnLst>
                                    <p:animEffect transition="out" filter="fade">
                                      <p:cBhvr>
                                        <p:cTn id="8" dur="500" tmFilter="0, 0; .2, .5; .8, .5; 1, 0"/>
                                        <p:tgtEl>
                                          <p:spTgt spid="3">
                                            <p:txEl>
                                              <p:pRg st="3" end="3"/>
                                            </p:txEl>
                                          </p:spTgt>
                                        </p:tgtEl>
                                      </p:cBhvr>
                                    </p:animEffect>
                                    <p:animScale>
                                      <p:cBhvr>
                                        <p:cTn id="9" dur="250" autoRev="1" fill="hold"/>
                                        <p:tgtEl>
                                          <p:spTgt spid="3">
                                            <p:txEl>
                                              <p:pRg st="3" end="3"/>
                                            </p:txEl>
                                          </p:spTgt>
                                        </p:tgtEl>
                                      </p:cBhvr>
                                      <p:by x="105000" y="105000"/>
                                    </p:animScale>
                                  </p:childTnLst>
                                </p:cTn>
                              </p:par>
                              <p:par>
                                <p:cTn id="10" presetID="26" presetClass="emph" presetSubtype="0" fill="hold" nodeType="withEffect">
                                  <p:stCondLst>
                                    <p:cond delay="0"/>
                                  </p:stCondLst>
                                  <p:childTnLst>
                                    <p:animEffect transition="out" filter="fade">
                                      <p:cBhvr>
                                        <p:cTn id="11" dur="500" tmFilter="0, 0; .2, .5; .8, .5; 1, 0"/>
                                        <p:tgtEl>
                                          <p:spTgt spid="3">
                                            <p:txEl>
                                              <p:pRg st="4" end="4"/>
                                            </p:txEl>
                                          </p:spTgt>
                                        </p:tgtEl>
                                      </p:cBhvr>
                                    </p:animEffect>
                                    <p:animScale>
                                      <p:cBhvr>
                                        <p:cTn id="12" dur="250" autoRev="1" fill="hold"/>
                                        <p:tgtEl>
                                          <p:spTgt spid="3">
                                            <p:txEl>
                                              <p:pRg st="4" end="4"/>
                                            </p:txEl>
                                          </p:spTgt>
                                        </p:tgtEl>
                                      </p:cBhvr>
                                      <p:by x="105000" y="105000"/>
                                    </p:animScale>
                                  </p:childTnLst>
                                </p:cTn>
                              </p:par>
                              <p:par>
                                <p:cTn id="13" presetID="26" presetClass="emph" presetSubtype="0" fill="hold" nodeType="withEffect">
                                  <p:stCondLst>
                                    <p:cond delay="0"/>
                                  </p:stCondLst>
                                  <p:childTnLst>
                                    <p:animEffect transition="out" filter="fade">
                                      <p:cBhvr>
                                        <p:cTn id="14" dur="500" tmFilter="0, 0; .2, .5; .8, .5; 1, 0"/>
                                        <p:tgtEl>
                                          <p:spTgt spid="3">
                                            <p:txEl>
                                              <p:pRg st="1" end="1"/>
                                            </p:txEl>
                                          </p:spTgt>
                                        </p:tgtEl>
                                      </p:cBhvr>
                                    </p:animEffect>
                                    <p:animScale>
                                      <p:cBhvr>
                                        <p:cTn id="15" dur="250" autoRev="1" fill="hold"/>
                                        <p:tgtEl>
                                          <p:spTgt spid="3">
                                            <p:txEl>
                                              <p:pRg st="1" end="1"/>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p:txBody>
          <a:bodyPr>
            <a:normAutofit/>
          </a:bodyPr>
          <a:lstStyle/>
          <a:p>
            <a:pPr marL="36900" indent="0">
              <a:buNone/>
            </a:pPr>
            <a:r>
              <a:rPr lang="en-US" sz="2400" dirty="0">
                <a:effectLst/>
              </a:rPr>
              <a:t>For the purposes of this learning objective, “Child” means a person under 18 years of age.</a:t>
            </a:r>
          </a:p>
          <a:p>
            <a:pPr marL="36900" indent="0" algn="ctr">
              <a:buNone/>
            </a:pPr>
            <a:r>
              <a:rPr lang="en-US" sz="4000" dirty="0">
                <a:effectLst/>
              </a:rPr>
              <a:t>True</a:t>
            </a:r>
          </a:p>
          <a:p>
            <a:pPr marL="36900" indent="0" algn="ctr">
              <a:buNone/>
            </a:pPr>
            <a:r>
              <a:rPr lang="en-US" sz="4000" dirty="0">
                <a:effectLst/>
              </a:rPr>
              <a:t>False</a:t>
            </a:r>
          </a:p>
          <a:p>
            <a:endParaRPr lang="en-US" dirty="0"/>
          </a:p>
        </p:txBody>
      </p:sp>
    </p:spTree>
    <p:extLst>
      <p:ext uri="{BB962C8B-B14F-4D97-AF65-F5344CB8AC3E}">
        <p14:creationId xmlns:p14="http://schemas.microsoft.com/office/powerpoint/2010/main" val="354761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hidden"/>
                                      </p:to>
                                    </p:set>
                                  </p:childTnLst>
                                </p:cTn>
                              </p:par>
                              <p:par>
                                <p:cTn id="7" presetID="26" presetClass="emph" presetSubtype="0" fill="hold" nodeType="withEffect">
                                  <p:stCondLst>
                                    <p:cond delay="0"/>
                                  </p:stCondLst>
                                  <p:childTnLst>
                                    <p:animEffect transition="out" filter="fade">
                                      <p:cBhvr>
                                        <p:cTn id="8" dur="500" tmFilter="0, 0; .2, .5; .8, .5; 1, 0"/>
                                        <p:tgtEl>
                                          <p:spTgt spid="3">
                                            <p:txEl>
                                              <p:pRg st="1" end="1"/>
                                            </p:txEl>
                                          </p:spTgt>
                                        </p:tgtEl>
                                      </p:cBhvr>
                                    </p:animEffect>
                                    <p:animScale>
                                      <p:cBhvr>
                                        <p:cTn id="9" dur="250" autoRev="1" fill="hold"/>
                                        <p:tgtEl>
                                          <p:spTgt spid="3">
                                            <p:txEl>
                                              <p:pRg st="1" end="1"/>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a:xfrm>
            <a:off x="913795" y="1732449"/>
            <a:ext cx="10353762" cy="4606567"/>
          </a:xfrm>
        </p:spPr>
        <p:txBody>
          <a:bodyPr>
            <a:normAutofit fontScale="92500" lnSpcReduction="20000"/>
          </a:bodyPr>
          <a:lstStyle/>
          <a:p>
            <a:r>
              <a:rPr lang="en-US" dirty="0">
                <a:effectLst/>
              </a:rPr>
              <a:t>"Missing</a:t>
            </a:r>
            <a:r>
              <a:rPr lang="en-US" b="1" dirty="0">
                <a:solidFill>
                  <a:srgbClr val="FF0000"/>
                </a:solidFill>
                <a:effectLst/>
              </a:rPr>
              <a:t> </a:t>
            </a:r>
            <a:r>
              <a:rPr lang="en-US" dirty="0">
                <a:effectLst/>
              </a:rPr>
              <a:t>child" means a child whose whereabouts are unknown to the child's legal custodian, the circumstances of whose absence indicate that:</a:t>
            </a:r>
          </a:p>
          <a:p>
            <a:pPr lvl="1"/>
            <a:r>
              <a:rPr lang="en-US" dirty="0">
                <a:effectLst/>
              </a:rPr>
              <a:t>(A) the child did not voluntarily leave the care and control of the custodian, and the taking of the child was not authorized by law;</a:t>
            </a:r>
          </a:p>
          <a:p>
            <a:pPr lvl="1"/>
            <a:r>
              <a:rPr lang="en-US" dirty="0">
                <a:effectLst/>
              </a:rPr>
              <a:t>(B) the child voluntarily left the care and control of the custodian without the custodian's consent and without intent to return;</a:t>
            </a:r>
          </a:p>
          <a:p>
            <a:pPr lvl="1"/>
            <a:r>
              <a:rPr lang="en-US" dirty="0">
                <a:effectLst/>
              </a:rPr>
              <a:t>(C) the child was taken or retained in violation of the terms of a court order for possession of or access to the child; or</a:t>
            </a:r>
          </a:p>
          <a:p>
            <a:pPr lvl="1"/>
            <a:r>
              <a:rPr lang="en-US" dirty="0">
                <a:effectLst/>
              </a:rPr>
              <a:t>(D) the child was taken or retained without the permission of the custodian and with the effect of depriving the custodian of possession of or access to the child unless the taking or retention of the child was prompted by the commission or attempted commission of family violence, as defined by Section </a:t>
            </a:r>
            <a:r>
              <a:rPr lang="en-US" dirty="0">
                <a:effectLst/>
                <a:hlinkClick r:id="rId2"/>
              </a:rPr>
              <a:t>71.004</a:t>
            </a:r>
            <a:r>
              <a:rPr lang="en-US" dirty="0">
                <a:effectLst/>
              </a:rPr>
              <a:t>, Family Code, against the child or the actor.</a:t>
            </a:r>
          </a:p>
          <a:p>
            <a:pPr marL="36900" indent="0" algn="ctr">
              <a:buNone/>
            </a:pPr>
            <a:r>
              <a:rPr lang="en-US" sz="4000" dirty="0">
                <a:effectLst/>
              </a:rPr>
              <a:t>True</a:t>
            </a:r>
          </a:p>
          <a:p>
            <a:pPr marL="36900" indent="0" algn="ctr">
              <a:buNone/>
            </a:pPr>
            <a:r>
              <a:rPr lang="en-US" sz="4000" dirty="0">
                <a:effectLst/>
              </a:rPr>
              <a:t>False</a:t>
            </a:r>
          </a:p>
        </p:txBody>
      </p:sp>
    </p:spTree>
    <p:extLst>
      <p:ext uri="{BB962C8B-B14F-4D97-AF65-F5344CB8AC3E}">
        <p14:creationId xmlns:p14="http://schemas.microsoft.com/office/powerpoint/2010/main" val="112963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hidden"/>
                                      </p:to>
                                    </p:set>
                                  </p:childTnLst>
                                </p:cTn>
                              </p:par>
                              <p:par>
                                <p:cTn id="7" presetID="26" presetClass="emph" presetSubtype="0" fill="hold" nodeType="withEffect">
                                  <p:stCondLst>
                                    <p:cond delay="0"/>
                                  </p:stCondLst>
                                  <p:childTnLst>
                                    <p:animEffect transition="out" filter="fade">
                                      <p:cBhvr>
                                        <p:cTn id="8" dur="500" tmFilter="0, 0; .2, .5; .8, .5; 1, 0"/>
                                        <p:tgtEl>
                                          <p:spTgt spid="3">
                                            <p:txEl>
                                              <p:pRg st="5" end="5"/>
                                            </p:txEl>
                                          </p:spTgt>
                                        </p:tgtEl>
                                      </p:cBhvr>
                                    </p:animEffect>
                                    <p:animScale>
                                      <p:cBhvr>
                                        <p:cTn id="9" dur="250" autoRev="1" fill="hold"/>
                                        <p:tgtEl>
                                          <p:spTgt spid="3">
                                            <p:txEl>
                                              <p:pRg st="5" end="5"/>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a:xfrm>
            <a:off x="913795" y="1732449"/>
            <a:ext cx="10353762" cy="4606567"/>
          </a:xfrm>
        </p:spPr>
        <p:txBody>
          <a:bodyPr>
            <a:normAutofit/>
          </a:bodyPr>
          <a:lstStyle/>
          <a:p>
            <a:r>
              <a:rPr lang="en-US" dirty="0">
                <a:effectLst/>
              </a:rPr>
              <a:t>"Missing child" or "missing person" also includes a person of any age who is missing and:</a:t>
            </a:r>
          </a:p>
          <a:p>
            <a:r>
              <a:rPr lang="en-US" dirty="0">
                <a:effectLst/>
              </a:rPr>
              <a:t>(A) is under proven physical or mental disability or is senile, and because of one or more of these conditions is subject to immediate danger or is a danger to others;</a:t>
            </a:r>
          </a:p>
          <a:p>
            <a:r>
              <a:rPr lang="en-US" dirty="0">
                <a:effectLst/>
              </a:rPr>
              <a:t>(B) is in the company of another person or is in a situation the circumstances of which indicate that the missing child's or missing person's safety is in doubt; or</a:t>
            </a:r>
          </a:p>
          <a:p>
            <a:r>
              <a:rPr lang="en-US" dirty="0">
                <a:effectLst/>
              </a:rPr>
              <a:t>(C) is unemancipated as defined by the law of this state.</a:t>
            </a:r>
          </a:p>
          <a:p>
            <a:pPr marL="36900" indent="0" algn="ctr">
              <a:buNone/>
            </a:pPr>
            <a:r>
              <a:rPr lang="en-US" sz="4000" dirty="0">
                <a:effectLst/>
              </a:rPr>
              <a:t>True</a:t>
            </a:r>
          </a:p>
          <a:p>
            <a:pPr marL="36900" indent="0" algn="ctr">
              <a:buNone/>
            </a:pPr>
            <a:r>
              <a:rPr lang="en-US" sz="4000" dirty="0">
                <a:effectLst/>
              </a:rPr>
              <a:t>False</a:t>
            </a:r>
          </a:p>
        </p:txBody>
      </p:sp>
    </p:spTree>
    <p:extLst>
      <p:ext uri="{BB962C8B-B14F-4D97-AF65-F5344CB8AC3E}">
        <p14:creationId xmlns:p14="http://schemas.microsoft.com/office/powerpoint/2010/main" val="229919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hidden"/>
                                      </p:to>
                                    </p:set>
                                  </p:childTnLst>
                                </p:cTn>
                              </p:par>
                              <p:par>
                                <p:cTn id="7" presetID="26" presetClass="emph" presetSubtype="0" fill="hold" nodeType="withEffect">
                                  <p:stCondLst>
                                    <p:cond delay="0"/>
                                  </p:stCondLst>
                                  <p:childTnLst>
                                    <p:animEffect transition="out" filter="fade">
                                      <p:cBhvr>
                                        <p:cTn id="8" dur="500" tmFilter="0, 0; .2, .5; .8, .5; 1, 0"/>
                                        <p:tgtEl>
                                          <p:spTgt spid="3">
                                            <p:txEl>
                                              <p:pRg st="4" end="4"/>
                                            </p:txEl>
                                          </p:spTgt>
                                        </p:tgtEl>
                                      </p:cBhvr>
                                    </p:animEffect>
                                    <p:animScale>
                                      <p:cBhvr>
                                        <p:cTn id="9" dur="250" autoRev="1" fill="hold"/>
                                        <p:tgtEl>
                                          <p:spTgt spid="3">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a:xfrm>
            <a:off x="913795" y="1732449"/>
            <a:ext cx="10353762" cy="4606567"/>
          </a:xfrm>
        </p:spPr>
        <p:txBody>
          <a:bodyPr>
            <a:normAutofit/>
          </a:bodyPr>
          <a:lstStyle/>
          <a:p>
            <a:r>
              <a:rPr lang="en-US" dirty="0">
                <a:effectLst/>
              </a:rPr>
              <a:t>A missing child or missing person report may be made to a law enforcement officer authorized by that department to receive reports in person or by telephone or other indirect method of communication and the officer may enter the information on the form for the reporting person. A report form may also be completed by the reporting person and delivered to a law enforcement officer. </a:t>
            </a:r>
          </a:p>
          <a:p>
            <a:pPr marL="36900" indent="0" algn="ctr">
              <a:buNone/>
            </a:pPr>
            <a:r>
              <a:rPr lang="en-US" sz="4000" dirty="0">
                <a:effectLst/>
              </a:rPr>
              <a:t>True</a:t>
            </a:r>
          </a:p>
          <a:p>
            <a:pPr marL="36900" indent="0" algn="ctr">
              <a:buNone/>
            </a:pPr>
            <a:r>
              <a:rPr lang="en-US" sz="4000" dirty="0">
                <a:effectLst/>
              </a:rPr>
              <a:t>False</a:t>
            </a:r>
          </a:p>
        </p:txBody>
      </p:sp>
    </p:spTree>
    <p:extLst>
      <p:ext uri="{BB962C8B-B14F-4D97-AF65-F5344CB8AC3E}">
        <p14:creationId xmlns:p14="http://schemas.microsoft.com/office/powerpoint/2010/main" val="19900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hidden"/>
                                      </p:to>
                                    </p:set>
                                  </p:childTnLst>
                                </p:cTn>
                              </p:par>
                              <p:par>
                                <p:cTn id="7" presetID="26" presetClass="emph" presetSubtype="0" fill="hold" nodeType="withEffect">
                                  <p:stCondLst>
                                    <p:cond delay="0"/>
                                  </p:stCondLst>
                                  <p:childTnLst>
                                    <p:animEffect transition="out" filter="fade">
                                      <p:cBhvr>
                                        <p:cTn id="8" dur="500" tmFilter="0, 0; .2, .5; .8, .5; 1, 0"/>
                                        <p:tgtEl>
                                          <p:spTgt spid="3">
                                            <p:txEl>
                                              <p:pRg st="1" end="1"/>
                                            </p:txEl>
                                          </p:spTgt>
                                        </p:tgtEl>
                                      </p:cBhvr>
                                    </p:animEffect>
                                    <p:animScale>
                                      <p:cBhvr>
                                        <p:cTn id="9" dur="250" autoRev="1" fill="hold"/>
                                        <p:tgtEl>
                                          <p:spTgt spid="3">
                                            <p:txEl>
                                              <p:pRg st="1" end="1"/>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FF599-27BD-47BE-94EA-6C0EE40A3971}"/>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FF48630E-560A-4F2A-89BB-67A3ADE963AA}"/>
              </a:ext>
            </a:extLst>
          </p:cNvPr>
          <p:cNvSpPr>
            <a:spLocks noGrp="1"/>
          </p:cNvSpPr>
          <p:nvPr>
            <p:ph idx="1"/>
          </p:nvPr>
        </p:nvSpPr>
        <p:spPr>
          <a:xfrm>
            <a:off x="913795" y="1732449"/>
            <a:ext cx="10353762" cy="4606567"/>
          </a:xfrm>
        </p:spPr>
        <p:txBody>
          <a:bodyPr>
            <a:normAutofit/>
          </a:bodyPr>
          <a:lstStyle/>
          <a:p>
            <a:pPr marL="36900" indent="0">
              <a:buNone/>
            </a:pPr>
            <a:r>
              <a:rPr lang="en-US" dirty="0">
                <a:effectLst/>
              </a:rPr>
              <a:t>If the subject of the report is a child at a high risk of harm, a law enforcement officer shall immediately start an investigation in order to determine the present location of the child or person.</a:t>
            </a:r>
          </a:p>
          <a:p>
            <a:pPr marL="36900" indent="0" algn="ctr">
              <a:buNone/>
            </a:pPr>
            <a:r>
              <a:rPr lang="en-US" sz="4000" dirty="0">
                <a:effectLst/>
              </a:rPr>
              <a:t>True</a:t>
            </a:r>
          </a:p>
          <a:p>
            <a:pPr marL="36900" indent="0" algn="ctr">
              <a:buNone/>
            </a:pPr>
            <a:r>
              <a:rPr lang="en-US" sz="4000" dirty="0">
                <a:effectLst/>
              </a:rPr>
              <a:t>False</a:t>
            </a:r>
          </a:p>
        </p:txBody>
      </p:sp>
    </p:spTree>
    <p:extLst>
      <p:ext uri="{BB962C8B-B14F-4D97-AF65-F5344CB8AC3E}">
        <p14:creationId xmlns:p14="http://schemas.microsoft.com/office/powerpoint/2010/main" val="239885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hidden"/>
                                      </p:to>
                                    </p:set>
                                  </p:childTnLst>
                                </p:cTn>
                              </p:par>
                              <p:par>
                                <p:cTn id="7" presetID="26" presetClass="emph" presetSubtype="0" fill="hold" nodeType="withEffect">
                                  <p:stCondLst>
                                    <p:cond delay="0"/>
                                  </p:stCondLst>
                                  <p:childTnLst>
                                    <p:animEffect transition="out" filter="fade">
                                      <p:cBhvr>
                                        <p:cTn id="8" dur="500" tmFilter="0, 0; .2, .5; .8, .5; 1, 0"/>
                                        <p:tgtEl>
                                          <p:spTgt spid="3">
                                            <p:txEl>
                                              <p:pRg st="1" end="1"/>
                                            </p:txEl>
                                          </p:spTgt>
                                        </p:tgtEl>
                                      </p:cBhvr>
                                    </p:animEffect>
                                    <p:animScale>
                                      <p:cBhvr>
                                        <p:cTn id="9" dur="250" autoRev="1" fill="hold"/>
                                        <p:tgtEl>
                                          <p:spTgt spid="3">
                                            <p:txEl>
                                              <p:pRg st="1" end="1"/>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D1430-136B-4873-A9EA-62BB4F112596}"/>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8C2DF61C-8D7D-4D32-A370-DE9FA9A02C14}"/>
              </a:ext>
            </a:extLst>
          </p:cNvPr>
          <p:cNvSpPr>
            <a:spLocks noGrp="1"/>
          </p:cNvSpPr>
          <p:nvPr>
            <p:ph idx="1"/>
          </p:nvPr>
        </p:nvSpPr>
        <p:spPr/>
        <p:txBody>
          <a:bodyPr/>
          <a:lstStyle/>
          <a:p>
            <a:pPr marL="36900" indent="0">
              <a:buNone/>
            </a:pPr>
            <a:r>
              <a:rPr lang="en-US" dirty="0">
                <a:effectLst/>
              </a:rPr>
              <a:t>Immediately, but ________________  after receiving the report, enter the name of the child or person into the clearinghouse, the national crime information center missing person file if the child or person meets the center's criteria, and the Alzheimer's Association Safe Return crisis number, if applicable, with all available identifying features.</a:t>
            </a:r>
          </a:p>
          <a:p>
            <a:pPr marL="494100" indent="-457200">
              <a:buFont typeface="+mj-lt"/>
              <a:buAutoNum type="alphaUcPeriod"/>
            </a:pPr>
            <a:r>
              <a:rPr lang="en-US" dirty="0">
                <a:effectLst/>
              </a:rPr>
              <a:t>not later than four hours </a:t>
            </a:r>
          </a:p>
          <a:p>
            <a:pPr marL="494100" indent="-457200">
              <a:buFont typeface="+mj-lt"/>
              <a:buAutoNum type="alphaUcPeriod"/>
            </a:pPr>
            <a:r>
              <a:rPr lang="en-US" dirty="0">
                <a:effectLst/>
              </a:rPr>
              <a:t>not later than twelve hours</a:t>
            </a:r>
          </a:p>
          <a:p>
            <a:pPr marL="494100" indent="-457200">
              <a:buFont typeface="+mj-lt"/>
              <a:buAutoNum type="alphaUcPeriod"/>
            </a:pPr>
            <a:r>
              <a:rPr lang="en-US" dirty="0">
                <a:effectLst/>
              </a:rPr>
              <a:t>not longer than one hour</a:t>
            </a:r>
          </a:p>
          <a:p>
            <a:pPr marL="494100" indent="-457200">
              <a:buFont typeface="+mj-lt"/>
              <a:buAutoNum type="alphaUcPeriod"/>
            </a:pPr>
            <a:r>
              <a:rPr lang="en-US" dirty="0">
                <a:effectLst/>
              </a:rPr>
              <a:t>not later than two hours</a:t>
            </a: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406737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4" end="4"/>
                                            </p:txEl>
                                          </p:spTgt>
                                        </p:tgtEl>
                                      </p:cBhvr>
                                    </p:animEffect>
                                    <p:animScale>
                                      <p:cBhvr>
                                        <p:cTn id="7" dur="250" autoRev="1" fill="hold"/>
                                        <p:tgtEl>
                                          <p:spTgt spid="3">
                                            <p:txEl>
                                              <p:pRg st="4" end="4"/>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D1430-136B-4873-A9EA-62BB4F112596}"/>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8C2DF61C-8D7D-4D32-A370-DE9FA9A02C14}"/>
              </a:ext>
            </a:extLst>
          </p:cNvPr>
          <p:cNvSpPr>
            <a:spLocks noGrp="1"/>
          </p:cNvSpPr>
          <p:nvPr>
            <p:ph idx="1"/>
          </p:nvPr>
        </p:nvSpPr>
        <p:spPr/>
        <p:txBody>
          <a:bodyPr/>
          <a:lstStyle/>
          <a:p>
            <a:pPr marL="36900" indent="0">
              <a:buNone/>
            </a:pPr>
            <a:r>
              <a:rPr lang="en-US" dirty="0">
                <a:effectLst/>
              </a:rPr>
              <a:t>A local law enforcement agency, on receiving a report of a child missing under the circumstances described by Article </a:t>
            </a:r>
            <a:r>
              <a:rPr lang="en-US" dirty="0">
                <a:effectLst/>
                <a:hlinkClick r:id="rId2"/>
              </a:rPr>
              <a:t>63.001</a:t>
            </a:r>
            <a:r>
              <a:rPr lang="en-US" dirty="0">
                <a:effectLst/>
              </a:rPr>
              <a:t>(3)(D) for a period of _________, shall immediately make a reasonable effort to locate the child and determine the well-being of the child.</a:t>
            </a:r>
          </a:p>
          <a:p>
            <a:pPr marL="494100" indent="-457200">
              <a:buFont typeface="+mj-lt"/>
              <a:buAutoNum type="alphaUcPeriod"/>
            </a:pPr>
            <a:r>
              <a:rPr lang="en-US" dirty="0">
                <a:effectLst/>
              </a:rPr>
              <a:t>not more than 36 hours</a:t>
            </a:r>
          </a:p>
          <a:p>
            <a:pPr marL="494100" indent="-457200">
              <a:buFont typeface="+mj-lt"/>
              <a:buAutoNum type="alphaUcPeriod"/>
            </a:pPr>
            <a:r>
              <a:rPr lang="en-US" dirty="0">
                <a:effectLst/>
              </a:rPr>
              <a:t>not less than 24 hours</a:t>
            </a:r>
          </a:p>
          <a:p>
            <a:pPr marL="494100" indent="-457200">
              <a:buFont typeface="+mj-lt"/>
              <a:buAutoNum type="alphaUcPeriod"/>
            </a:pPr>
            <a:r>
              <a:rPr lang="en-US" dirty="0">
                <a:effectLst/>
              </a:rPr>
              <a:t>not less than 48 hours</a:t>
            </a:r>
          </a:p>
          <a:p>
            <a:pPr marL="494100" indent="-457200">
              <a:buFont typeface="+mj-lt"/>
              <a:buAutoNum type="alphaUcPeriod"/>
            </a:pPr>
            <a:r>
              <a:rPr lang="en-US" dirty="0">
                <a:effectLst/>
              </a:rPr>
              <a:t>not less than 40 hours</a:t>
            </a: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317460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3" end="3"/>
                                            </p:txEl>
                                          </p:spTgt>
                                        </p:tgtEl>
                                      </p:cBhvr>
                                    </p:animEffect>
                                    <p:animScale>
                                      <p:cBhvr>
                                        <p:cTn id="7" dur="250" autoRev="1" fill="hold"/>
                                        <p:tgtEl>
                                          <p:spTgt spid="3">
                                            <p:txEl>
                                              <p:pRg st="3" end="3"/>
                                            </p:txEl>
                                          </p:spTgt>
                                        </p:tgtEl>
                                      </p:cBhvr>
                                      <p:by x="105000" y="105000"/>
                                    </p:animScale>
                                  </p:childTnLst>
                                </p:cTn>
                              </p:par>
                              <p:par>
                                <p:cTn id="8" presetID="1" presetClass="exit"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5F1B-197D-45DC-8F7C-2B1418BF3B6F}"/>
              </a:ext>
            </a:extLst>
          </p:cNvPr>
          <p:cNvSpPr>
            <a:spLocks noGrp="1"/>
          </p:cNvSpPr>
          <p:nvPr>
            <p:ph type="title"/>
          </p:nvPr>
        </p:nvSpPr>
        <p:spPr/>
        <p:txBody>
          <a:bodyPr/>
          <a:lstStyle/>
          <a:p>
            <a:r>
              <a:rPr lang="en-US" dirty="0"/>
              <a:t>Knowledge Check</a:t>
            </a:r>
          </a:p>
        </p:txBody>
      </p:sp>
      <p:sp>
        <p:nvSpPr>
          <p:cNvPr id="3" name="Content Placeholder 2">
            <a:extLst>
              <a:ext uri="{FF2B5EF4-FFF2-40B4-BE49-F238E27FC236}">
                <a16:creationId xmlns:a16="http://schemas.microsoft.com/office/drawing/2014/main" id="{A7A09762-3312-4172-8691-D581FE5AC26C}"/>
              </a:ext>
            </a:extLst>
          </p:cNvPr>
          <p:cNvSpPr>
            <a:spLocks noGrp="1"/>
          </p:cNvSpPr>
          <p:nvPr>
            <p:ph idx="1"/>
          </p:nvPr>
        </p:nvSpPr>
        <p:spPr/>
        <p:txBody>
          <a:bodyPr>
            <a:normAutofit lnSpcReduction="10000"/>
          </a:bodyPr>
          <a:lstStyle/>
          <a:p>
            <a:pPr marL="36900" indent="0">
              <a:buNone/>
            </a:pPr>
            <a:r>
              <a:rPr lang="en-US" dirty="0">
                <a:effectLst/>
              </a:rPr>
              <a:t>On the request of a local law enforcement agency regarding an abducted child, the department shall activate the alert system and notify appropriate participants in the alert system, as established by rule, if (select all that apply):</a:t>
            </a:r>
          </a:p>
          <a:p>
            <a:pPr marL="494100" indent="-457200">
              <a:buFont typeface="+mj-lt"/>
              <a:buAutoNum type="alphaUcPeriod"/>
            </a:pPr>
            <a:r>
              <a:rPr lang="en-US" dirty="0">
                <a:effectLst/>
              </a:rPr>
              <a:t>that a child under 14 years of age has been abducted</a:t>
            </a:r>
          </a:p>
          <a:p>
            <a:pPr marL="494100" indent="-457200">
              <a:buFont typeface="+mj-lt"/>
              <a:buAutoNum type="alphaUcPeriod"/>
            </a:pPr>
            <a:r>
              <a:rPr lang="en-US" dirty="0">
                <a:effectLst/>
              </a:rPr>
              <a:t>that a child has been taken with consent of the parent, guardian, or conservator</a:t>
            </a:r>
          </a:p>
          <a:p>
            <a:pPr marL="494100" indent="-457200">
              <a:buFont typeface="+mj-lt"/>
              <a:buAutoNum type="alphaUcPeriod"/>
            </a:pPr>
            <a:r>
              <a:rPr lang="en-US" dirty="0">
                <a:effectLst/>
              </a:rPr>
              <a:t>that a child has been taken by a relative less than 3 years older than the child</a:t>
            </a:r>
          </a:p>
          <a:p>
            <a:pPr marL="494100" indent="-457200">
              <a:buFont typeface="+mj-lt"/>
              <a:buAutoNum type="alphaUcPeriod"/>
            </a:pPr>
            <a:r>
              <a:rPr lang="en-US" dirty="0">
                <a:effectLst/>
              </a:rPr>
              <a:t>that a child is believed to be in immediate danger of serious bodily injury, death, or sexual assault</a:t>
            </a:r>
          </a:p>
          <a:p>
            <a:pPr marL="494100" indent="-457200">
              <a:buFont typeface="+mj-lt"/>
              <a:buAutoNum type="alphaUcPeriod"/>
            </a:pPr>
            <a:r>
              <a:rPr lang="en-US" dirty="0">
                <a:effectLst/>
              </a:rPr>
              <a:t>that a preliminary investigation has taken place confirming abduction and eliminating alternative reasons for the disappearance</a:t>
            </a:r>
          </a:p>
          <a:p>
            <a:pPr marL="494100" indent="-457200">
              <a:buFont typeface="+mj-lt"/>
              <a:buAutoNum type="alphaUcPeriod"/>
            </a:pPr>
            <a:r>
              <a:rPr lang="en-US" dirty="0">
                <a:effectLst/>
              </a:rPr>
              <a:t>that sufficient information is not available that could assist in locating the child</a:t>
            </a:r>
          </a:p>
          <a:p>
            <a:pPr marL="494100" indent="-457200">
              <a:buFont typeface="+mj-lt"/>
              <a:buAutoNum type="alphaUcPeriod"/>
            </a:pPr>
            <a:endParaRPr lang="en-US" dirty="0">
              <a:effectLst/>
            </a:endParaRPr>
          </a:p>
        </p:txBody>
      </p:sp>
    </p:spTree>
    <p:extLst>
      <p:ext uri="{BB962C8B-B14F-4D97-AF65-F5344CB8AC3E}">
        <p14:creationId xmlns:p14="http://schemas.microsoft.com/office/powerpoint/2010/main" val="394377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1" end="1"/>
                                            </p:txEl>
                                          </p:spTgt>
                                        </p:tgtEl>
                                      </p:cBhvr>
                                    </p:animEffect>
                                    <p:animScale>
                                      <p:cBhvr>
                                        <p:cTn id="7" dur="250" autoRev="1" fill="hold"/>
                                        <p:tgtEl>
                                          <p:spTgt spid="3">
                                            <p:txEl>
                                              <p:pRg st="1" end="1"/>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
                                            <p:txEl>
                                              <p:pRg st="4" end="4"/>
                                            </p:txEl>
                                          </p:spTgt>
                                        </p:tgtEl>
                                      </p:cBhvr>
                                    </p:animEffect>
                                    <p:animScale>
                                      <p:cBhvr>
                                        <p:cTn id="10" dur="250" autoRev="1" fill="hold"/>
                                        <p:tgtEl>
                                          <p:spTgt spid="3">
                                            <p:txEl>
                                              <p:pRg st="4" end="4"/>
                                            </p:txEl>
                                          </p:spTgt>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3">
                                            <p:txEl>
                                              <p:pRg st="5" end="5"/>
                                            </p:txEl>
                                          </p:spTgt>
                                        </p:tgtEl>
                                      </p:cBhvr>
                                    </p:animEffect>
                                    <p:animScale>
                                      <p:cBhvr>
                                        <p:cTn id="13" dur="250" autoRev="1" fill="hold"/>
                                        <p:tgtEl>
                                          <p:spTgt spid="3">
                                            <p:txEl>
                                              <p:pRg st="5" end="5"/>
                                            </p:txEl>
                                          </p:spTgt>
                                        </p:tgtEl>
                                      </p:cBhvr>
                                      <p:by x="105000" y="105000"/>
                                    </p:animScale>
                                  </p:childTnLst>
                                </p:cTn>
                              </p:par>
                              <p:par>
                                <p:cTn id="14" presetID="1" presetClass="exit"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hidden"/>
                                      </p:to>
                                    </p:set>
                                  </p:childTnLst>
                                </p:cTn>
                              </p:par>
                              <p:par>
                                <p:cTn id="16" presetID="1" presetClass="exit"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3">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17555</TotalTime>
  <Words>8670</Words>
  <Application>Microsoft Office PowerPoint</Application>
  <PresentationFormat>Widescreen</PresentationFormat>
  <Paragraphs>556</Paragraphs>
  <Slides>69</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Calibri</vt:lpstr>
      <vt:lpstr>Calisto MT</vt:lpstr>
      <vt:lpstr>Wingdings 2</vt:lpstr>
      <vt:lpstr>Slate</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lpstr>Knowledge Check</vt:lpstr>
    </vt:vector>
  </TitlesOfParts>
  <Company>City of Fort Worth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Family Code AND  JUVENILE ISSUES</dc:title>
  <dc:creator>Dawley, Jason</dc:creator>
  <cp:lastModifiedBy>Justin Brown</cp:lastModifiedBy>
  <cp:revision>274</cp:revision>
  <dcterms:created xsi:type="dcterms:W3CDTF">2017-01-31T16:06:44Z</dcterms:created>
  <dcterms:modified xsi:type="dcterms:W3CDTF">2026-09-17T00:37:01Z</dcterms:modified>
</cp:coreProperties>
</file>